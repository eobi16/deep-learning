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5143500" cx="9144000"/>
  <p:notesSz cx="6858000" cy="9144000"/>
  <p:embeddedFontLst>
    <p:embeddedFont>
      <p:font typeface="Roboto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084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  <p15:guide id="4" orient="horz" pos="540">
          <p15:clr>
            <a:srgbClr val="A4A3A4"/>
          </p15:clr>
        </p15:guide>
        <p15:guide id="5" pos="5472">
          <p15:clr>
            <a:srgbClr val="A4A3A4"/>
          </p15:clr>
        </p15:guide>
        <p15:guide id="6" pos="288">
          <p15:clr>
            <a:srgbClr val="A4A3A4"/>
          </p15:clr>
        </p15:guide>
      </p15:sldGuideLst>
    </p:ext>
    <p:ext uri="GoogleSlidesCustomDataVersion2">
      <go:slidesCustomData xmlns:go="http://customooxmlschemas.google.com/" r:id="rId37" roundtripDataSignature="AMtx7mgOJPhC6mApbxpBtqq++nr4wfQt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084" orient="horz"/>
        <p:guide pos="2880"/>
        <p:guide pos="1620" orient="horz"/>
        <p:guide pos="540" orient="horz"/>
        <p:guide pos="5472"/>
        <p:guide pos="28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Roboto-regular.fntdata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Roboto-italic.fntdata"/><Relationship Id="rId12" Type="http://schemas.openxmlformats.org/officeDocument/2006/relationships/slide" Target="slides/slide6.xml"/><Relationship Id="rId34" Type="http://schemas.openxmlformats.org/officeDocument/2006/relationships/font" Target="fonts/Roboto-bold.fntdata"/><Relationship Id="rId15" Type="http://schemas.openxmlformats.org/officeDocument/2006/relationships/slide" Target="slides/slide9.xml"/><Relationship Id="rId37" Type="http://customschemas.google.com/relationships/presentationmetadata" Target="metadata"/><Relationship Id="rId14" Type="http://schemas.openxmlformats.org/officeDocument/2006/relationships/slide" Target="slides/slide8.xml"/><Relationship Id="rId36" Type="http://schemas.openxmlformats.org/officeDocument/2006/relationships/font" Target="fonts/Roboto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4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Char char="•"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Extend Deloitte’s InsightIQ Analytics Offering to automate consumer spending analysis for retail industry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476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Char char="–"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Draw insight from various data sources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-2476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Char char="–"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Develop reusable tools for repeatable analysis / reports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00"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62733ee16f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g162733ee16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g162733ee16f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8e8777b765_1_50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18e8777b765_1_5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g18e8777b765_1_50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18e204b3f51_0_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g18e204b3f51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g18e204b3f51_0_4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182dc67332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g182dc67332f_0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8f8e31fd24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g18f8e31fd24_1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8e204b3f51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g18e204b3f5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9" name="Google Shape;239;g18e204b3f51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18e204b3f51_0_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g18e204b3f51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8" name="Google Shape;258;g18e204b3f51_0_2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18e204b3f51_0_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g18e204b3f51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8" name="Google Shape;278;g18e204b3f51_0_4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18e204b3f51_0_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g18e204b3f51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Average may be skewed especially for lowest and highest income brackets, Fin data of individual</a:t>
            </a:r>
            <a:endParaRPr/>
          </a:p>
        </p:txBody>
      </p:sp>
      <p:sp>
        <p:nvSpPr>
          <p:cNvPr id="299" name="Google Shape;299;g18e204b3f51_0_7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19a8997bf46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19a8997bf4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19a8997bf46_0_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18f8e31fd24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7" name="Google Shape;347;g18f8e31fd24_1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182dc67332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5" name="Google Shape;355;g182dc67332f_0_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182dc67332f_0_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g182dc67332f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inflation flag (done)</a:t>
            </a:r>
            <a:endParaRPr/>
          </a:p>
        </p:txBody>
      </p:sp>
      <p:sp>
        <p:nvSpPr>
          <p:cNvPr id="365" name="Google Shape;365;g182dc67332f_0_4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18d15e1ddba_0_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g18d15e1ddb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8" name="Google Shape;378;g18d15e1ddba_0_2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18d15e1ddba_0_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1" name="Google Shape;391;g18d15e1ddba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2" name="Google Shape;392;g18d15e1ddba_0_3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18d15e1ddba_0_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g18d15e1ddba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compare growth rates of each to inflation rate?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online seasonality starts earlier</a:t>
            </a:r>
            <a:endParaRPr/>
          </a:p>
        </p:txBody>
      </p:sp>
      <p:sp>
        <p:nvSpPr>
          <p:cNvPr id="406" name="Google Shape;406;g18d15e1ddba_0_6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18f8e31fd24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9" name="Google Shape;419;g18f8e31fd24_1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182dc67332f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7" name="Google Shape;427;g182dc67332f_0_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18d15e1ddba_0_9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" name="Google Shape;435;g18d15e1ddba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Change Other to speciality stores (done)</a:t>
            </a:r>
            <a:endParaRPr/>
          </a:p>
        </p:txBody>
      </p:sp>
      <p:sp>
        <p:nvSpPr>
          <p:cNvPr id="436" name="Google Shape;436;g18d15e1ddba_0_9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19159c35986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" name="Google Shape;450;g19159c3598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Change Other to speciality stores (done)</a:t>
            </a:r>
            <a:endParaRPr/>
          </a:p>
        </p:txBody>
      </p:sp>
      <p:sp>
        <p:nvSpPr>
          <p:cNvPr id="451" name="Google Shape;451;g19159c35986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19159c3598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3" name="Google Shape;463;g19159c35986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15f0f30565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1" name="Google Shape;471;g15f0f305651_0_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7"/>
          <p:cNvSpPr txBox="1"/>
          <p:nvPr>
            <p:ph type="ctrTitle"/>
          </p:nvPr>
        </p:nvSpPr>
        <p:spPr>
          <a:xfrm>
            <a:off x="698500" y="520700"/>
            <a:ext cx="8050467" cy="1803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Arial"/>
              <a:buNone/>
              <a:defRPr b="0"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7"/>
          <p:cNvSpPr txBox="1"/>
          <p:nvPr>
            <p:ph idx="1" type="subTitle"/>
          </p:nvPr>
        </p:nvSpPr>
        <p:spPr>
          <a:xfrm>
            <a:off x="698500" y="2857500"/>
            <a:ext cx="8050467" cy="9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b="1" sz="20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" name="Google Shape;17;p7"/>
          <p:cNvSpPr txBox="1"/>
          <p:nvPr>
            <p:ph idx="11" type="ftr"/>
          </p:nvPr>
        </p:nvSpPr>
        <p:spPr>
          <a:xfrm>
            <a:off x="5853367" y="4853781"/>
            <a:ext cx="2895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Kellogg_H_white.png" id="18" name="Google Shape;1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8500" y="4305312"/>
            <a:ext cx="3657561" cy="37643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" name="Google Shape;19;p7"/>
          <p:cNvCxnSpPr/>
          <p:nvPr/>
        </p:nvCxnSpPr>
        <p:spPr>
          <a:xfrm>
            <a:off x="698500" y="2585378"/>
            <a:ext cx="3657561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0"/>
          <p:cNvSpPr txBox="1"/>
          <p:nvPr>
            <p:ph type="title"/>
          </p:nvPr>
        </p:nvSpPr>
        <p:spPr>
          <a:xfrm>
            <a:off x="457200" y="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0"/>
          <p:cNvSpPr txBox="1"/>
          <p:nvPr>
            <p:ph idx="1" type="body"/>
          </p:nvPr>
        </p:nvSpPr>
        <p:spPr>
          <a:xfrm>
            <a:off x="457200" y="1184275"/>
            <a:ext cx="8229600" cy="3394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2" type="sldNum"/>
          </p:nvPr>
        </p:nvSpPr>
        <p:spPr>
          <a:xfrm>
            <a:off x="8765451" y="4904581"/>
            <a:ext cx="378548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p10"/>
          <p:cNvSpPr txBox="1"/>
          <p:nvPr>
            <p:ph idx="11" type="ftr"/>
          </p:nvPr>
        </p:nvSpPr>
        <p:spPr>
          <a:xfrm>
            <a:off x="5853367" y="4904581"/>
            <a:ext cx="2895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1"/>
          <p:cNvSpPr txBox="1"/>
          <p:nvPr>
            <p:ph type="title"/>
          </p:nvPr>
        </p:nvSpPr>
        <p:spPr>
          <a:xfrm>
            <a:off x="722313" y="3024124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1"/>
          <p:cNvSpPr txBox="1"/>
          <p:nvPr>
            <p:ph idx="1" type="body"/>
          </p:nvPr>
        </p:nvSpPr>
        <p:spPr>
          <a:xfrm>
            <a:off x="722313" y="1898983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b="1" sz="24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11"/>
          <p:cNvSpPr txBox="1"/>
          <p:nvPr>
            <p:ph idx="12" type="sldNum"/>
          </p:nvPr>
        </p:nvSpPr>
        <p:spPr>
          <a:xfrm>
            <a:off x="8765451" y="4904581"/>
            <a:ext cx="378548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11"/>
          <p:cNvSpPr txBox="1"/>
          <p:nvPr>
            <p:ph idx="11" type="ftr"/>
          </p:nvPr>
        </p:nvSpPr>
        <p:spPr>
          <a:xfrm>
            <a:off x="5853367" y="4904581"/>
            <a:ext cx="2895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2"/>
          <p:cNvSpPr txBox="1"/>
          <p:nvPr>
            <p:ph type="title"/>
          </p:nvPr>
        </p:nvSpPr>
        <p:spPr>
          <a:xfrm>
            <a:off x="457200" y="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" type="body"/>
          </p:nvPr>
        </p:nvSpPr>
        <p:spPr>
          <a:xfrm>
            <a:off x="457200" y="1055835"/>
            <a:ext cx="4038600" cy="3394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  <a:defRPr sz="24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2400"/>
              <a:buChar char="–"/>
              <a:defRPr sz="24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  <a:defRPr sz="2400"/>
            </a:lvl3pPr>
            <a:lvl4pPr indent="-381000" lvl="3" marL="18288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2400"/>
              <a:buChar char="–"/>
              <a:defRPr sz="2400"/>
            </a:lvl4pPr>
            <a:lvl5pPr indent="-381000" lvl="4" marL="2286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2400"/>
              <a:buChar char="»"/>
              <a:defRPr sz="2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2"/>
          <p:cNvSpPr txBox="1"/>
          <p:nvPr>
            <p:ph idx="2" type="body"/>
          </p:nvPr>
        </p:nvSpPr>
        <p:spPr>
          <a:xfrm>
            <a:off x="4648200" y="1055835"/>
            <a:ext cx="4038600" cy="3394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  <a:defRPr sz="24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2400"/>
              <a:buChar char="–"/>
              <a:defRPr sz="24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  <a:defRPr sz="2400"/>
            </a:lvl3pPr>
            <a:lvl4pPr indent="-381000" lvl="3" marL="18288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2400"/>
              <a:buChar char="–"/>
              <a:defRPr sz="2400"/>
            </a:lvl4pPr>
            <a:lvl5pPr indent="-381000" lvl="4" marL="2286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2400"/>
              <a:buChar char="»"/>
              <a:defRPr sz="2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4" name="Google Shape;34;p12"/>
          <p:cNvSpPr txBox="1"/>
          <p:nvPr>
            <p:ph idx="12" type="sldNum"/>
          </p:nvPr>
        </p:nvSpPr>
        <p:spPr>
          <a:xfrm>
            <a:off x="8765451" y="4904581"/>
            <a:ext cx="378548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" name="Google Shape;35;p12"/>
          <p:cNvSpPr txBox="1"/>
          <p:nvPr>
            <p:ph idx="11" type="ftr"/>
          </p:nvPr>
        </p:nvSpPr>
        <p:spPr>
          <a:xfrm>
            <a:off x="5853367" y="4904581"/>
            <a:ext cx="2895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3"/>
          <p:cNvSpPr txBox="1"/>
          <p:nvPr>
            <p:ph type="title"/>
          </p:nvPr>
        </p:nvSpPr>
        <p:spPr>
          <a:xfrm>
            <a:off x="457200" y="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2" type="sldNum"/>
          </p:nvPr>
        </p:nvSpPr>
        <p:spPr>
          <a:xfrm>
            <a:off x="8765451" y="4904581"/>
            <a:ext cx="378548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13"/>
          <p:cNvSpPr txBox="1"/>
          <p:nvPr>
            <p:ph idx="11" type="ftr"/>
          </p:nvPr>
        </p:nvSpPr>
        <p:spPr>
          <a:xfrm>
            <a:off x="5853367" y="4904581"/>
            <a:ext cx="2895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idx="12" type="sldNum"/>
          </p:nvPr>
        </p:nvSpPr>
        <p:spPr>
          <a:xfrm>
            <a:off x="8765451" y="4904581"/>
            <a:ext cx="378548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" name="Google Shape;42;p14"/>
          <p:cNvSpPr txBox="1"/>
          <p:nvPr>
            <p:ph idx="11" type="ftr"/>
          </p:nvPr>
        </p:nvSpPr>
        <p:spPr>
          <a:xfrm>
            <a:off x="5853367" y="4904581"/>
            <a:ext cx="2895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/>
          <p:nvPr>
            <p:ph type="title"/>
          </p:nvPr>
        </p:nvSpPr>
        <p:spPr>
          <a:xfrm>
            <a:off x="457200" y="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0B7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9"/>
          <p:cNvSpPr txBox="1"/>
          <p:nvPr>
            <p:ph idx="1" type="body"/>
          </p:nvPr>
        </p:nvSpPr>
        <p:spPr>
          <a:xfrm>
            <a:off x="457200" y="1196975"/>
            <a:ext cx="8229600" cy="3394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765451" y="4904581"/>
            <a:ext cx="378548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5853367" y="4904581"/>
            <a:ext cx="2895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/>
          <p:cNvSpPr txBox="1"/>
          <p:nvPr>
            <p:ph type="ctrTitle"/>
          </p:nvPr>
        </p:nvSpPr>
        <p:spPr>
          <a:xfrm>
            <a:off x="698500" y="711200"/>
            <a:ext cx="8445500" cy="15131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0B70"/>
              </a:buClr>
              <a:buSzPts val="4500"/>
              <a:buFont typeface="Arial"/>
              <a:buNone/>
              <a:defRPr b="0"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5"/>
          <p:cNvSpPr txBox="1"/>
          <p:nvPr>
            <p:ph idx="1" type="subTitle"/>
          </p:nvPr>
        </p:nvSpPr>
        <p:spPr>
          <a:xfrm>
            <a:off x="698500" y="2692400"/>
            <a:ext cx="8050467" cy="9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 b="1" sz="2000">
                <a:solidFill>
                  <a:srgbClr val="000000"/>
                </a:solidFill>
              </a:defRPr>
            </a:lvl1pPr>
            <a:lvl2pPr lvl="1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6" name="Google Shape;56;p15"/>
          <p:cNvSpPr txBox="1"/>
          <p:nvPr>
            <p:ph idx="11" type="ftr"/>
          </p:nvPr>
        </p:nvSpPr>
        <p:spPr>
          <a:xfrm>
            <a:off x="5853367" y="4853781"/>
            <a:ext cx="2895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Kellogg_H_RGB.png" id="57" name="Google Shape;5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8500" y="4305312"/>
            <a:ext cx="3657600" cy="37444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" name="Google Shape;58;p15"/>
          <p:cNvCxnSpPr/>
          <p:nvPr/>
        </p:nvCxnSpPr>
        <p:spPr>
          <a:xfrm>
            <a:off x="698500" y="2462173"/>
            <a:ext cx="3657600" cy="0"/>
          </a:xfrm>
          <a:prstGeom prst="straightConnector1">
            <a:avLst/>
          </a:prstGeom>
          <a:noFill/>
          <a:ln cap="flat" cmpd="sng" w="12700">
            <a:solidFill>
              <a:srgbClr val="3D146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 txBox="1"/>
          <p:nvPr>
            <p:ph type="title"/>
          </p:nvPr>
        </p:nvSpPr>
        <p:spPr>
          <a:xfrm>
            <a:off x="722313" y="3024124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0B70"/>
              </a:buClr>
              <a:buSzPts val="3200"/>
              <a:buFont typeface="Aria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6"/>
          <p:cNvSpPr txBox="1"/>
          <p:nvPr>
            <p:ph idx="1" type="body"/>
          </p:nvPr>
        </p:nvSpPr>
        <p:spPr>
          <a:xfrm>
            <a:off x="722313" y="1898983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b="1" sz="2400">
                <a:solidFill>
                  <a:srgbClr val="000000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2" name="Google Shape;62;p16"/>
          <p:cNvSpPr txBox="1"/>
          <p:nvPr>
            <p:ph idx="12" type="sldNum"/>
          </p:nvPr>
        </p:nvSpPr>
        <p:spPr>
          <a:xfrm>
            <a:off x="8765451" y="4904581"/>
            <a:ext cx="378548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16"/>
          <p:cNvSpPr txBox="1"/>
          <p:nvPr>
            <p:ph idx="11" type="ftr"/>
          </p:nvPr>
        </p:nvSpPr>
        <p:spPr>
          <a:xfrm>
            <a:off x="5853367" y="4904581"/>
            <a:ext cx="2895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 txBox="1"/>
          <p:nvPr>
            <p:ph type="title"/>
          </p:nvPr>
        </p:nvSpPr>
        <p:spPr>
          <a:xfrm>
            <a:off x="457200" y="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0B7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" type="body"/>
          </p:nvPr>
        </p:nvSpPr>
        <p:spPr>
          <a:xfrm>
            <a:off x="457200" y="1055835"/>
            <a:ext cx="4038600" cy="3394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81000" lvl="3" marL="18288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67" name="Google Shape;67;p17"/>
          <p:cNvSpPr txBox="1"/>
          <p:nvPr>
            <p:ph idx="2" type="body"/>
          </p:nvPr>
        </p:nvSpPr>
        <p:spPr>
          <a:xfrm>
            <a:off x="4648200" y="1055835"/>
            <a:ext cx="4038600" cy="3394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81000" lvl="3" marL="18288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68" name="Google Shape;68;p17"/>
          <p:cNvSpPr txBox="1"/>
          <p:nvPr>
            <p:ph idx="12" type="sldNum"/>
          </p:nvPr>
        </p:nvSpPr>
        <p:spPr>
          <a:xfrm>
            <a:off x="8765451" y="4904581"/>
            <a:ext cx="378548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" name="Google Shape;69;p17"/>
          <p:cNvSpPr txBox="1"/>
          <p:nvPr>
            <p:ph idx="11" type="ftr"/>
          </p:nvPr>
        </p:nvSpPr>
        <p:spPr>
          <a:xfrm>
            <a:off x="5853367" y="4904581"/>
            <a:ext cx="2895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457200" y="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0B7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765451" y="4904581"/>
            <a:ext cx="378548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18"/>
          <p:cNvSpPr txBox="1"/>
          <p:nvPr>
            <p:ph idx="11" type="ftr"/>
          </p:nvPr>
        </p:nvSpPr>
        <p:spPr>
          <a:xfrm>
            <a:off x="5853367" y="4904581"/>
            <a:ext cx="2895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idx="12" type="sldNum"/>
          </p:nvPr>
        </p:nvSpPr>
        <p:spPr>
          <a:xfrm>
            <a:off x="8765451" y="4904581"/>
            <a:ext cx="378548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" name="Google Shape;76;p19"/>
          <p:cNvSpPr txBox="1"/>
          <p:nvPr>
            <p:ph idx="11" type="ftr"/>
          </p:nvPr>
        </p:nvSpPr>
        <p:spPr>
          <a:xfrm>
            <a:off x="5853367" y="4904581"/>
            <a:ext cx="2895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A">
  <p:cSld name="Content A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/>
          <p:nvPr/>
        </p:nvSpPr>
        <p:spPr>
          <a:xfrm>
            <a:off x="1" y="4947261"/>
            <a:ext cx="1872049" cy="196240"/>
          </a:xfrm>
          <a:custGeom>
            <a:rect b="b" l="l" r="r" t="t"/>
            <a:pathLst>
              <a:path extrusionOk="0" h="261653" w="2496065">
                <a:moveTo>
                  <a:pt x="0" y="0"/>
                </a:moveTo>
                <a:lnTo>
                  <a:pt x="2496065" y="0"/>
                </a:lnTo>
                <a:lnTo>
                  <a:pt x="2364218" y="261653"/>
                </a:lnTo>
                <a:lnTo>
                  <a:pt x="0" y="261653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" name="Google Shape;79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36561" y="5003936"/>
            <a:ext cx="932913" cy="96012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20"/>
          <p:cNvSpPr/>
          <p:nvPr/>
        </p:nvSpPr>
        <p:spPr>
          <a:xfrm flipH="1" rot="10800000">
            <a:off x="0" y="196242"/>
            <a:ext cx="9144000" cy="475101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436561" y="432229"/>
            <a:ext cx="8334773" cy="3201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2A84"/>
              </a:buClr>
              <a:buSzPts val="2250"/>
              <a:buFont typeface="Arial"/>
              <a:buNone/>
              <a:defRPr b="0" sz="2250" cap="none">
                <a:solidFill>
                  <a:srgbClr val="4E2A8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6561" y="1461052"/>
            <a:ext cx="8334773" cy="31316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3850" lvl="0" marL="4572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b="0" sz="1500"/>
            </a:lvl1pPr>
            <a:lvl2pPr indent="-323850" lvl="1" marL="914400" algn="l">
              <a:lnSpc>
                <a:spcPct val="100000"/>
              </a:lnSpc>
              <a:spcBef>
                <a:spcPts val="135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23850" lvl="2" marL="137160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/>
            </a:lvl3pPr>
            <a:lvl4pPr indent="-323850" lvl="3" marL="182880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/>
            </a:lvl4pPr>
            <a:lvl5pPr indent="-323850" lvl="4" marL="228600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/>
            </a:lvl5pPr>
            <a:lvl6pPr indent="-323850" lvl="5" marL="274320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3F3F3F"/>
              </a:buClr>
              <a:buSzPts val="1500"/>
              <a:buChar char="•"/>
              <a:defRPr sz="1500">
                <a:solidFill>
                  <a:srgbClr val="3F3F3F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10" type="dt"/>
          </p:nvPr>
        </p:nvSpPr>
        <p:spPr>
          <a:xfrm>
            <a:off x="8305971" y="4947258"/>
            <a:ext cx="465364" cy="1962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4" name="Google Shape;84;p20"/>
          <p:cNvSpPr txBox="1"/>
          <p:nvPr>
            <p:ph idx="11" type="ftr"/>
          </p:nvPr>
        </p:nvSpPr>
        <p:spPr>
          <a:xfrm>
            <a:off x="2339748" y="4947259"/>
            <a:ext cx="5730649" cy="196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3F3F3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0"/>
          <p:cNvSpPr txBox="1"/>
          <p:nvPr>
            <p:ph idx="12" type="sldNum"/>
          </p:nvPr>
        </p:nvSpPr>
        <p:spPr>
          <a:xfrm>
            <a:off x="1" y="4947258"/>
            <a:ext cx="372666" cy="1962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6" name="Google Shape;86;p20"/>
          <p:cNvSpPr txBox="1"/>
          <p:nvPr>
            <p:ph idx="2" type="body"/>
          </p:nvPr>
        </p:nvSpPr>
        <p:spPr>
          <a:xfrm>
            <a:off x="436561" y="795914"/>
            <a:ext cx="8334773" cy="2360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95275" lvl="0" marL="4572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Char char="•"/>
              <a:defRPr b="0" sz="1050" cap="none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9" Type="http://schemas.openxmlformats.org/officeDocument/2006/relationships/theme" Target="../theme/theme3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title"/>
          </p:nvPr>
        </p:nvSpPr>
        <p:spPr>
          <a:xfrm>
            <a:off x="457200" y="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 b="1" i="0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6"/>
          <p:cNvSpPr txBox="1"/>
          <p:nvPr>
            <p:ph idx="1" type="body"/>
          </p:nvPr>
        </p:nvSpPr>
        <p:spPr>
          <a:xfrm>
            <a:off x="457200" y="1184275"/>
            <a:ext cx="8229600" cy="3394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81000" lvl="3" marL="18288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81000" lvl="4" marL="2286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»"/>
              <a:defRPr b="0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6"/>
          <p:cNvSpPr txBox="1"/>
          <p:nvPr>
            <p:ph idx="12" type="sldNum"/>
          </p:nvPr>
        </p:nvSpPr>
        <p:spPr>
          <a:xfrm>
            <a:off x="8765451" y="4904581"/>
            <a:ext cx="378548" cy="2389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5853367" y="4904581"/>
            <a:ext cx="2895600" cy="2389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/>
          <p:nvPr>
            <p:ph type="title"/>
          </p:nvPr>
        </p:nvSpPr>
        <p:spPr>
          <a:xfrm>
            <a:off x="457200" y="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0B70"/>
              </a:buClr>
              <a:buSzPts val="3000"/>
              <a:buFont typeface="Arial"/>
              <a:buNone/>
              <a:defRPr b="1" i="0" sz="3000" u="none" cap="none" strike="noStrike">
                <a:solidFill>
                  <a:srgbClr val="3E0B7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Google Shape;45;p8"/>
          <p:cNvSpPr txBox="1"/>
          <p:nvPr>
            <p:ph idx="1" type="body"/>
          </p:nvPr>
        </p:nvSpPr>
        <p:spPr>
          <a:xfrm>
            <a:off x="457200" y="1196975"/>
            <a:ext cx="8229600" cy="3394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81000" lvl="3" marL="18288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81000" lvl="4" marL="2286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»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" name="Google Shape;46;p8"/>
          <p:cNvSpPr txBox="1"/>
          <p:nvPr>
            <p:ph idx="12" type="sldNum"/>
          </p:nvPr>
        </p:nvSpPr>
        <p:spPr>
          <a:xfrm>
            <a:off x="8765451" y="4904581"/>
            <a:ext cx="378548" cy="2389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" name="Google Shape;47;p8"/>
          <p:cNvSpPr txBox="1"/>
          <p:nvPr>
            <p:ph idx="11" type="ftr"/>
          </p:nvPr>
        </p:nvSpPr>
        <p:spPr>
          <a:xfrm>
            <a:off x="5853367" y="4904581"/>
            <a:ext cx="2895600" cy="2389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8.png"/><Relationship Id="rId7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Relationship Id="rId4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 txBox="1"/>
          <p:nvPr>
            <p:ph type="ctrTitle"/>
          </p:nvPr>
        </p:nvSpPr>
        <p:spPr>
          <a:xfrm>
            <a:off x="698500" y="520700"/>
            <a:ext cx="8050467" cy="1803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Arial"/>
              <a:buNone/>
            </a:pPr>
            <a:r>
              <a:rPr lang="en-US"/>
              <a:t>Deloitte Capstone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Arial"/>
              <a:buNone/>
            </a:pPr>
            <a:r>
              <a:rPr lang="en-US"/>
              <a:t>Final Presentation</a:t>
            </a:r>
            <a:endParaRPr/>
          </a:p>
        </p:txBody>
      </p:sp>
      <p:sp>
        <p:nvSpPr>
          <p:cNvPr id="92" name="Google Shape;92;p1"/>
          <p:cNvSpPr txBox="1"/>
          <p:nvPr>
            <p:ph idx="1" type="subTitle"/>
          </p:nvPr>
        </p:nvSpPr>
        <p:spPr>
          <a:xfrm>
            <a:off x="698500" y="2857500"/>
            <a:ext cx="8050467" cy="9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</a:pPr>
            <a:r>
              <a:rPr lang="en-US" sz="1600"/>
              <a:t>Part 1: Business Presentation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</a:pPr>
            <a:r>
              <a:rPr lang="en-US" sz="1600"/>
              <a:t>November 18, 2022</a:t>
            </a:r>
            <a:endParaRPr sz="1600"/>
          </a:p>
        </p:txBody>
      </p:sp>
      <p:sp>
        <p:nvSpPr>
          <p:cNvPr id="93" name="Google Shape;93;p1"/>
          <p:cNvSpPr txBox="1"/>
          <p:nvPr>
            <p:ph idx="11" type="ftr"/>
          </p:nvPr>
        </p:nvSpPr>
        <p:spPr>
          <a:xfrm>
            <a:off x="5853367" y="4853781"/>
            <a:ext cx="2895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Copyright or confidentiality statement.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/>
          <p:nvPr>
            <p:ph type="title"/>
          </p:nvPr>
        </p:nvSpPr>
        <p:spPr>
          <a:xfrm>
            <a:off x="457200" y="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0B70"/>
              </a:buClr>
              <a:buSzPts val="3000"/>
              <a:buFont typeface="Arial"/>
              <a:buNone/>
            </a:pPr>
            <a:r>
              <a:rPr lang="en-US"/>
              <a:t>Project Team</a:t>
            </a:r>
            <a:endParaRPr/>
          </a:p>
        </p:txBody>
      </p:sp>
      <p:sp>
        <p:nvSpPr>
          <p:cNvPr id="99" name="Google Shape;99;p2"/>
          <p:cNvSpPr txBox="1"/>
          <p:nvPr>
            <p:ph idx="12" type="sldNum"/>
          </p:nvPr>
        </p:nvSpPr>
        <p:spPr>
          <a:xfrm>
            <a:off x="8765451" y="4904581"/>
            <a:ext cx="378548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" name="Google Shape;100;p2"/>
          <p:cNvSpPr txBox="1"/>
          <p:nvPr>
            <p:ph idx="11" type="ftr"/>
          </p:nvPr>
        </p:nvSpPr>
        <p:spPr>
          <a:xfrm>
            <a:off x="5853367" y="4904581"/>
            <a:ext cx="2895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Copyright or confidentiality statement.</a:t>
            </a:r>
            <a:endParaRPr/>
          </a:p>
        </p:txBody>
      </p:sp>
      <p:sp>
        <p:nvSpPr>
          <p:cNvPr id="101" name="Google Shape;101;p2"/>
          <p:cNvSpPr/>
          <p:nvPr/>
        </p:nvSpPr>
        <p:spPr>
          <a:xfrm>
            <a:off x="736137" y="1546897"/>
            <a:ext cx="1188600" cy="1188600"/>
          </a:xfrm>
          <a:prstGeom prst="ellipse">
            <a:avLst/>
          </a:prstGeom>
          <a:solidFill>
            <a:srgbClr val="461268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2382601" y="1546897"/>
            <a:ext cx="1188600" cy="1188600"/>
          </a:xfrm>
          <a:prstGeom prst="ellipse">
            <a:avLst/>
          </a:prstGeom>
          <a:solidFill>
            <a:srgbClr val="461268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4029065" y="1546897"/>
            <a:ext cx="1188600" cy="1188600"/>
          </a:xfrm>
          <a:prstGeom prst="ellipse">
            <a:avLst/>
          </a:prstGeom>
          <a:solidFill>
            <a:srgbClr val="461268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5675529" y="1546897"/>
            <a:ext cx="1188600" cy="1188600"/>
          </a:xfrm>
          <a:prstGeom prst="ellipse">
            <a:avLst/>
          </a:prstGeom>
          <a:solidFill>
            <a:srgbClr val="461268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7321994" y="1546897"/>
            <a:ext cx="1188600" cy="1188600"/>
          </a:xfrm>
          <a:prstGeom prst="ellipse">
            <a:avLst/>
          </a:prstGeom>
          <a:solidFill>
            <a:srgbClr val="461268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2315841" y="2789374"/>
            <a:ext cx="13221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Eloka Obi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MSAI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507513" y="2789374"/>
            <a:ext cx="1645800" cy="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Vikram Kharvi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MSAI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3791775" y="2789374"/>
            <a:ext cx="16458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Neel Karpe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MBAi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5666974" y="2789374"/>
            <a:ext cx="1188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Tianyi He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MBAi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7313474" y="2789374"/>
            <a:ext cx="11886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Jake Reiner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MBAi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75587" y="1546900"/>
            <a:ext cx="1188600" cy="1188600"/>
          </a:xfrm>
          <a:prstGeom prst="ellipse">
            <a:avLst/>
          </a:prstGeom>
          <a:noFill/>
          <a:ln cap="flat" cmpd="sng" w="19050">
            <a:solidFill>
              <a:srgbClr val="3D146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2" name="Google Shape;11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29063" y="1546900"/>
            <a:ext cx="1188600" cy="1188600"/>
          </a:xfrm>
          <a:prstGeom prst="ellipse">
            <a:avLst/>
          </a:prstGeom>
          <a:noFill/>
          <a:ln cap="flat" cmpd="sng" w="19050">
            <a:solidFill>
              <a:srgbClr val="3E0B7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3" name="Google Shape;113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82600" y="1546900"/>
            <a:ext cx="1188600" cy="11886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4" name="Google Shape;114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6125" y="1525150"/>
            <a:ext cx="1188600" cy="1232100"/>
          </a:xfrm>
          <a:prstGeom prst="ellipse">
            <a:avLst/>
          </a:prstGeom>
          <a:noFill/>
          <a:ln cap="flat" cmpd="sng" w="19050">
            <a:solidFill>
              <a:srgbClr val="3E0B7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5" name="Google Shape;115;p2"/>
          <p:cNvPicPr preferRelativeResize="0"/>
          <p:nvPr/>
        </p:nvPicPr>
        <p:blipFill rotWithShape="1">
          <a:blip r:embed="rId7">
            <a:alphaModFix/>
          </a:blip>
          <a:srcRect b="13122" l="0" r="10095" t="4700"/>
          <a:stretch/>
        </p:blipFill>
        <p:spPr>
          <a:xfrm>
            <a:off x="7322075" y="1546900"/>
            <a:ext cx="1188600" cy="1188600"/>
          </a:xfrm>
          <a:prstGeom prst="ellipse">
            <a:avLst/>
          </a:prstGeom>
          <a:noFill/>
          <a:ln cap="flat" cmpd="sng" w="19050">
            <a:solidFill>
              <a:srgbClr val="3E0B7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 txBox="1"/>
          <p:nvPr>
            <p:ph type="title"/>
          </p:nvPr>
        </p:nvSpPr>
        <p:spPr>
          <a:xfrm>
            <a:off x="457200" y="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0B70"/>
              </a:buClr>
              <a:buSzPts val="3000"/>
              <a:buFont typeface="Arial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121" name="Google Shape;121;p5"/>
          <p:cNvSpPr txBox="1"/>
          <p:nvPr>
            <p:ph idx="1" type="body"/>
          </p:nvPr>
        </p:nvSpPr>
        <p:spPr>
          <a:xfrm>
            <a:off x="457200" y="1184275"/>
            <a:ext cx="8229600" cy="30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3257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5000"/>
              <a:buChar char="•"/>
            </a:pPr>
            <a:r>
              <a:rPr lang="en-US"/>
              <a:t>Background and Scope</a:t>
            </a:r>
            <a:endParaRPr/>
          </a:p>
          <a:p>
            <a:pPr indent="-3257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5000"/>
              <a:buChar char="•"/>
            </a:pPr>
            <a:r>
              <a:rPr lang="en-US"/>
              <a:t>Data + Analysis Description</a:t>
            </a:r>
            <a:endParaRPr/>
          </a:p>
          <a:p>
            <a:pPr indent="-3257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5000"/>
              <a:buChar char="•"/>
            </a:pPr>
            <a:r>
              <a:rPr lang="en-US"/>
              <a:t>Three Key Analyses:</a:t>
            </a:r>
            <a:endParaRPr/>
          </a:p>
          <a:p>
            <a:pPr indent="-32575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5000"/>
              <a:buChar char="–"/>
            </a:pPr>
            <a:r>
              <a:rPr lang="en-US"/>
              <a:t>Customer Segmentation </a:t>
            </a:r>
            <a:endParaRPr/>
          </a:p>
          <a:p>
            <a:pPr indent="-32575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5000"/>
              <a:buChar char="–"/>
            </a:pPr>
            <a:r>
              <a:rPr lang="en-US"/>
              <a:t>Channel Trends</a:t>
            </a:r>
            <a:endParaRPr/>
          </a:p>
          <a:p>
            <a:pPr indent="-32575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5000"/>
              <a:buChar char="–"/>
            </a:pPr>
            <a:r>
              <a:rPr lang="en-US"/>
              <a:t>Sector Shift </a:t>
            </a:r>
            <a:endParaRPr/>
          </a:p>
          <a:p>
            <a:pPr indent="-3257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5000"/>
              <a:buChar char="•"/>
            </a:pPr>
            <a:r>
              <a:rPr lang="en-US"/>
              <a:t>Next Steps</a:t>
            </a:r>
            <a:endParaRPr/>
          </a:p>
        </p:txBody>
      </p:sp>
      <p:sp>
        <p:nvSpPr>
          <p:cNvPr id="122" name="Google Shape;122;p5"/>
          <p:cNvSpPr txBox="1"/>
          <p:nvPr>
            <p:ph idx="12" type="sldNum"/>
          </p:nvPr>
        </p:nvSpPr>
        <p:spPr>
          <a:xfrm>
            <a:off x="8765451" y="4904581"/>
            <a:ext cx="378548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3" name="Google Shape;123;p5"/>
          <p:cNvSpPr txBox="1"/>
          <p:nvPr>
            <p:ph idx="11" type="ftr"/>
          </p:nvPr>
        </p:nvSpPr>
        <p:spPr>
          <a:xfrm>
            <a:off x="5853367" y="4904581"/>
            <a:ext cx="2895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Copyright or confidentiality statement.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/>
          <p:cNvSpPr txBox="1"/>
          <p:nvPr>
            <p:ph type="title"/>
          </p:nvPr>
        </p:nvSpPr>
        <p:spPr>
          <a:xfrm>
            <a:off x="457200" y="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0B70"/>
              </a:buClr>
              <a:buSzPct val="100000"/>
              <a:buFont typeface="Arial"/>
              <a:buNone/>
            </a:pPr>
            <a:r>
              <a:rPr lang="en-US"/>
              <a:t>Our project will help Deloitte in 3 broad areas</a:t>
            </a:r>
            <a:endParaRPr/>
          </a:p>
        </p:txBody>
      </p:sp>
      <p:sp>
        <p:nvSpPr>
          <p:cNvPr id="129" name="Google Shape;129;p4"/>
          <p:cNvSpPr txBox="1"/>
          <p:nvPr>
            <p:ph idx="12" type="sldNum"/>
          </p:nvPr>
        </p:nvSpPr>
        <p:spPr>
          <a:xfrm>
            <a:off x="8765451" y="4904581"/>
            <a:ext cx="378548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0" name="Google Shape;130;p4"/>
          <p:cNvSpPr txBox="1"/>
          <p:nvPr>
            <p:ph idx="11" type="ftr"/>
          </p:nvPr>
        </p:nvSpPr>
        <p:spPr>
          <a:xfrm>
            <a:off x="5853367" y="4904581"/>
            <a:ext cx="28956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Copyright or confidentiality statement.</a:t>
            </a:r>
            <a:endParaRPr/>
          </a:p>
        </p:txBody>
      </p:sp>
      <p:grpSp>
        <p:nvGrpSpPr>
          <p:cNvPr id="131" name="Google Shape;131;p4"/>
          <p:cNvGrpSpPr/>
          <p:nvPr/>
        </p:nvGrpSpPr>
        <p:grpSpPr>
          <a:xfrm>
            <a:off x="5632223" y="2134900"/>
            <a:ext cx="3192976" cy="2760950"/>
            <a:chOff x="5632317" y="1189775"/>
            <a:chExt cx="3305700" cy="2760950"/>
          </a:xfrm>
        </p:grpSpPr>
        <p:sp>
          <p:nvSpPr>
            <p:cNvPr id="132" name="Google Shape;132;p4"/>
            <p:cNvSpPr/>
            <p:nvPr/>
          </p:nvSpPr>
          <p:spPr>
            <a:xfrm>
              <a:off x="5632317" y="1189775"/>
              <a:ext cx="3305700" cy="669000"/>
            </a:xfrm>
            <a:prstGeom prst="chevron">
              <a:avLst>
                <a:gd fmla="val 50000" name="adj"/>
              </a:avLst>
            </a:prstGeom>
            <a:solidFill>
              <a:srgbClr val="8E7C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Differentiate</a:t>
              </a:r>
              <a:endParaRPr b="1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4"/>
            <p:cNvSpPr txBox="1"/>
            <p:nvPr/>
          </p:nvSpPr>
          <p:spPr>
            <a:xfrm>
              <a:off x="6167066" y="2057125"/>
              <a:ext cx="2236200" cy="189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Continue to build capabilities as a competitive advantage to establish thought leadership in the industry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4" name="Google Shape;134;p4"/>
          <p:cNvGrpSpPr/>
          <p:nvPr/>
        </p:nvGrpSpPr>
        <p:grpSpPr>
          <a:xfrm>
            <a:off x="457200" y="2135125"/>
            <a:ext cx="3089700" cy="2760725"/>
            <a:chOff x="457200" y="1190000"/>
            <a:chExt cx="3089700" cy="2760725"/>
          </a:xfrm>
        </p:grpSpPr>
        <p:sp>
          <p:nvSpPr>
            <p:cNvPr id="135" name="Google Shape;135;p4"/>
            <p:cNvSpPr/>
            <p:nvPr/>
          </p:nvSpPr>
          <p:spPr>
            <a:xfrm>
              <a:off x="457200" y="1190000"/>
              <a:ext cx="3089700" cy="669000"/>
            </a:xfrm>
            <a:prstGeom prst="homePlate">
              <a:avLst>
                <a:gd fmla="val 50000" name="adj"/>
              </a:avLst>
            </a:prstGeom>
            <a:solidFill>
              <a:srgbClr val="351C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   Develop Capabilities</a:t>
              </a:r>
              <a:endParaRPr b="1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4"/>
            <p:cNvSpPr txBox="1"/>
            <p:nvPr/>
          </p:nvSpPr>
          <p:spPr>
            <a:xfrm>
              <a:off x="883950" y="2057125"/>
              <a:ext cx="2236200" cy="189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Enhance the analytics expertise in-house and build reusable tools to discover insights for the retail industry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7" name="Google Shape;137;p4"/>
          <p:cNvGrpSpPr/>
          <p:nvPr/>
        </p:nvGrpSpPr>
        <p:grpSpPr>
          <a:xfrm>
            <a:off x="3175450" y="2134900"/>
            <a:ext cx="3021300" cy="2760950"/>
            <a:chOff x="3175450" y="1189775"/>
            <a:chExt cx="3021300" cy="2760950"/>
          </a:xfrm>
        </p:grpSpPr>
        <p:sp>
          <p:nvSpPr>
            <p:cNvPr id="138" name="Google Shape;138;p4"/>
            <p:cNvSpPr/>
            <p:nvPr/>
          </p:nvSpPr>
          <p:spPr>
            <a:xfrm>
              <a:off x="3175450" y="1189775"/>
              <a:ext cx="3021300" cy="669000"/>
            </a:xfrm>
            <a:prstGeom prst="chevron">
              <a:avLst>
                <a:gd fmla="val 50000" name="adj"/>
              </a:avLst>
            </a:prstGeom>
            <a:solidFill>
              <a:srgbClr val="674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Serve Clients Better</a:t>
              </a:r>
              <a:endParaRPr b="1" i="0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4"/>
            <p:cNvSpPr txBox="1"/>
            <p:nvPr/>
          </p:nvSpPr>
          <p:spPr>
            <a:xfrm>
              <a:off x="3512800" y="2057125"/>
              <a:ext cx="2346600" cy="189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Use the tools and insights developed to provide exceptional service and improve client relationships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0" name="Google Shape;140;p4"/>
          <p:cNvSpPr txBox="1"/>
          <p:nvPr>
            <p:ph type="title"/>
          </p:nvPr>
        </p:nvSpPr>
        <p:spPr>
          <a:xfrm>
            <a:off x="1295400" y="991925"/>
            <a:ext cx="7391400" cy="79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0B70"/>
              </a:buClr>
              <a:buSzPts val="3000"/>
              <a:buFont typeface="Arial"/>
              <a:buNone/>
            </a:pPr>
            <a:r>
              <a:rPr b="0" lang="en-US" sz="1800"/>
              <a:t>Overall: Extend Deloitte’s InsightIQ Analytics Offering to automate consumer spending analysis for retail industry</a:t>
            </a:r>
            <a:endParaRPr b="0" sz="1800"/>
          </a:p>
        </p:txBody>
      </p:sp>
      <p:pic>
        <p:nvPicPr>
          <p:cNvPr id="141" name="Google Shape;14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1053037"/>
            <a:ext cx="674137" cy="672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62733ee16f_0_0"/>
          <p:cNvSpPr/>
          <p:nvPr/>
        </p:nvSpPr>
        <p:spPr>
          <a:xfrm>
            <a:off x="6210950" y="2787100"/>
            <a:ext cx="2478300" cy="9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74320" lvl="0" marL="27432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TOTAL SPEND 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Credit &amp; Debit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CHANNEL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Credit &amp; Debit</a:t>
            </a:r>
            <a:endParaRPr b="0" i="0" sz="12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162733ee16f_0_0"/>
          <p:cNvSpPr txBox="1"/>
          <p:nvPr>
            <p:ph type="title"/>
          </p:nvPr>
        </p:nvSpPr>
        <p:spPr>
          <a:xfrm>
            <a:off x="457200" y="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6666"/>
              <a:buNone/>
            </a:pPr>
            <a:r>
              <a:rPr lang="en-US"/>
              <a:t>We distilled the guiding questions into 3 key questions for analysis</a:t>
            </a:r>
            <a:endParaRPr/>
          </a:p>
        </p:txBody>
      </p:sp>
      <p:sp>
        <p:nvSpPr>
          <p:cNvPr id="149" name="Google Shape;149;g162733ee16f_0_0"/>
          <p:cNvSpPr txBox="1"/>
          <p:nvPr>
            <p:ph idx="12" type="sldNum"/>
          </p:nvPr>
        </p:nvSpPr>
        <p:spPr>
          <a:xfrm>
            <a:off x="8765451" y="4904581"/>
            <a:ext cx="378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0" name="Google Shape;150;g162733ee16f_0_0"/>
          <p:cNvSpPr/>
          <p:nvPr/>
        </p:nvSpPr>
        <p:spPr>
          <a:xfrm>
            <a:off x="829425" y="1002650"/>
            <a:ext cx="2478300" cy="629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Original Guiding Question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g162733ee16f_0_0"/>
          <p:cNvSpPr/>
          <p:nvPr/>
        </p:nvSpPr>
        <p:spPr>
          <a:xfrm>
            <a:off x="6208500" y="1002650"/>
            <a:ext cx="2478300" cy="629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Datasets + Variables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g162733ee16f_0_0"/>
          <p:cNvSpPr/>
          <p:nvPr/>
        </p:nvSpPr>
        <p:spPr>
          <a:xfrm>
            <a:off x="3518963" y="1002650"/>
            <a:ext cx="2478300" cy="629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Question for Analysis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g162733ee16f_0_0"/>
          <p:cNvSpPr/>
          <p:nvPr/>
        </p:nvSpPr>
        <p:spPr>
          <a:xfrm>
            <a:off x="829425" y="1742725"/>
            <a:ext cx="2478300" cy="9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kind of customers are driving changes in performance (e.g. drop in spend)?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162733ee16f_0_0"/>
          <p:cNvSpPr/>
          <p:nvPr/>
        </p:nvSpPr>
        <p:spPr>
          <a:xfrm>
            <a:off x="457200" y="2092075"/>
            <a:ext cx="296100" cy="222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162733ee16f_0_0"/>
          <p:cNvSpPr/>
          <p:nvPr/>
        </p:nvSpPr>
        <p:spPr>
          <a:xfrm>
            <a:off x="829425" y="2787100"/>
            <a:ext cx="2478300" cy="9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do these behaviors vary by channel (online vs. offline)?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162733ee16f_0_0"/>
          <p:cNvSpPr/>
          <p:nvPr/>
        </p:nvSpPr>
        <p:spPr>
          <a:xfrm>
            <a:off x="829425" y="3831475"/>
            <a:ext cx="2478300" cy="9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sectors is customer spend shifting to?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162733ee16f_0_0"/>
          <p:cNvSpPr/>
          <p:nvPr/>
        </p:nvSpPr>
        <p:spPr>
          <a:xfrm>
            <a:off x="457200" y="3136450"/>
            <a:ext cx="296100" cy="222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g162733ee16f_0_0"/>
          <p:cNvSpPr/>
          <p:nvPr/>
        </p:nvSpPr>
        <p:spPr>
          <a:xfrm>
            <a:off x="457200" y="4180825"/>
            <a:ext cx="296100" cy="222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162733ee16f_0_0"/>
          <p:cNvSpPr/>
          <p:nvPr/>
        </p:nvSpPr>
        <p:spPr>
          <a:xfrm>
            <a:off x="3518975" y="1742725"/>
            <a:ext cx="2478300" cy="9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Backward looking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which customer segments have been decreasing total spend?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g162733ee16f_0_0"/>
          <p:cNvSpPr/>
          <p:nvPr/>
        </p:nvSpPr>
        <p:spPr>
          <a:xfrm>
            <a:off x="3518975" y="2787100"/>
            <a:ext cx="2478300" cy="9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Backward looking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how significant is channel as a factor for the decrease in spend?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162733ee16f_0_0"/>
          <p:cNvSpPr/>
          <p:nvPr/>
        </p:nvSpPr>
        <p:spPr>
          <a:xfrm>
            <a:off x="3518975" y="3831475"/>
            <a:ext cx="2478300" cy="9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Forward looking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which sectors will see increased spend?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g162733ee16f_0_0"/>
          <p:cNvSpPr/>
          <p:nvPr/>
        </p:nvSpPr>
        <p:spPr>
          <a:xfrm>
            <a:off x="6210950" y="3831475"/>
            <a:ext cx="2478300" cy="9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74320" lvl="0" marL="27432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TOTAL SPEND 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Credit &amp; Debit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SECTOR, SUBSECTOR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Credit &amp; Debit</a:t>
            </a:r>
            <a:endParaRPr b="0" i="0" sz="12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162733ee16f_0_0"/>
          <p:cNvSpPr/>
          <p:nvPr/>
        </p:nvSpPr>
        <p:spPr>
          <a:xfrm>
            <a:off x="6210950" y="1742725"/>
            <a:ext cx="2478300" cy="9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74320" lvl="0" marL="27432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TOTAL SPEND 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Credit &amp; Debit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 attributes variables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Consumer Behavior and Lifestyle data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8e8777b765_1_505"/>
          <p:cNvSpPr txBox="1"/>
          <p:nvPr>
            <p:ph type="title"/>
          </p:nvPr>
        </p:nvSpPr>
        <p:spPr>
          <a:xfrm>
            <a:off x="457663" y="11275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Key Dataset Overview</a:t>
            </a:r>
            <a:endParaRPr/>
          </a:p>
        </p:txBody>
      </p:sp>
      <p:sp>
        <p:nvSpPr>
          <p:cNvPr id="170" name="Google Shape;170;g18e8777b765_1_505"/>
          <p:cNvSpPr txBox="1"/>
          <p:nvPr>
            <p:ph idx="12" type="sldNum"/>
          </p:nvPr>
        </p:nvSpPr>
        <p:spPr>
          <a:xfrm>
            <a:off x="8765451" y="4904581"/>
            <a:ext cx="378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g18e8777b765_1_505"/>
          <p:cNvSpPr/>
          <p:nvPr/>
        </p:nvSpPr>
        <p:spPr>
          <a:xfrm>
            <a:off x="4440803" y="1080500"/>
            <a:ext cx="4243800" cy="407700"/>
          </a:xfrm>
          <a:prstGeom prst="rect">
            <a:avLst/>
          </a:prstGeom>
          <a:solidFill>
            <a:srgbClr val="701C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Key Variables</a:t>
            </a:r>
            <a:endParaRPr b="1" i="0" sz="11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" name="Google Shape;172;g18e8777b765_1_505"/>
          <p:cNvSpPr/>
          <p:nvPr/>
        </p:nvSpPr>
        <p:spPr>
          <a:xfrm>
            <a:off x="556800" y="1080500"/>
            <a:ext cx="3865200" cy="407700"/>
          </a:xfrm>
          <a:prstGeom prst="rect">
            <a:avLst/>
          </a:prstGeom>
          <a:solidFill>
            <a:srgbClr val="701C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3" name="Google Shape;173;g18e8777b765_1_505"/>
          <p:cNvGrpSpPr/>
          <p:nvPr/>
        </p:nvGrpSpPr>
        <p:grpSpPr>
          <a:xfrm>
            <a:off x="558328" y="3363123"/>
            <a:ext cx="8126608" cy="915370"/>
            <a:chOff x="943723" y="4469047"/>
            <a:chExt cx="5006227" cy="674455"/>
          </a:xfrm>
        </p:grpSpPr>
        <p:sp>
          <p:nvSpPr>
            <p:cNvPr id="174" name="Google Shape;174;g18e8777b765_1_505"/>
            <p:cNvSpPr/>
            <p:nvPr/>
          </p:nvSpPr>
          <p:spPr>
            <a:xfrm>
              <a:off x="943723" y="4469050"/>
              <a:ext cx="2379900" cy="674400"/>
            </a:xfrm>
            <a:prstGeom prst="rect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t/>
              </a:r>
              <a:endPara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g18e8777b765_1_505"/>
            <p:cNvSpPr/>
            <p:nvPr/>
          </p:nvSpPr>
          <p:spPr>
            <a:xfrm>
              <a:off x="1632122" y="4469063"/>
              <a:ext cx="674400" cy="674400"/>
            </a:xfrm>
            <a:prstGeom prst="rtTriangle">
              <a:avLst/>
            </a:prstGeom>
            <a:solidFill>
              <a:srgbClr val="7F20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t/>
              </a:r>
              <a:endPara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g18e8777b765_1_505"/>
            <p:cNvSpPr/>
            <p:nvPr/>
          </p:nvSpPr>
          <p:spPr>
            <a:xfrm>
              <a:off x="943723" y="4469063"/>
              <a:ext cx="687600" cy="674400"/>
            </a:xfrm>
            <a:prstGeom prst="rtTriangle">
              <a:avLst/>
            </a:prstGeom>
            <a:solidFill>
              <a:srgbClr val="9225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t/>
              </a:r>
              <a:endPara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g18e8777b765_1_505"/>
            <p:cNvSpPr/>
            <p:nvPr/>
          </p:nvSpPr>
          <p:spPr>
            <a:xfrm>
              <a:off x="1210848" y="4469107"/>
              <a:ext cx="425700" cy="40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b="0" i="0" lang="en-US" sz="19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b="0" i="0" sz="19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8" name="Google Shape;178;g18e8777b765_1_505"/>
            <p:cNvSpPr/>
            <p:nvPr/>
          </p:nvSpPr>
          <p:spPr>
            <a:xfrm>
              <a:off x="3633813" y="4601063"/>
              <a:ext cx="410400" cy="410400"/>
            </a:xfrm>
            <a:prstGeom prst="mathMultiply">
              <a:avLst>
                <a:gd fmla="val 5080" name="adj1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t/>
              </a:r>
              <a:endPara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g18e8777b765_1_505"/>
            <p:cNvSpPr/>
            <p:nvPr/>
          </p:nvSpPr>
          <p:spPr>
            <a:xfrm>
              <a:off x="1636552" y="4469102"/>
              <a:ext cx="1556700" cy="67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-US" sz="13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Financial Health Data</a:t>
              </a:r>
              <a:endPara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0" name="Google Shape;180;g18e8777b765_1_505"/>
            <p:cNvSpPr/>
            <p:nvPr/>
          </p:nvSpPr>
          <p:spPr>
            <a:xfrm>
              <a:off x="3335450" y="4469047"/>
              <a:ext cx="2614500" cy="674400"/>
            </a:xfrm>
            <a:prstGeom prst="rect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t/>
              </a:r>
              <a:endPara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1" name="Google Shape;181;g18e8777b765_1_505"/>
          <p:cNvSpPr/>
          <p:nvPr/>
        </p:nvSpPr>
        <p:spPr>
          <a:xfrm>
            <a:off x="4443569" y="3363064"/>
            <a:ext cx="4243800" cy="9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Credit usage information including:</a:t>
            </a:r>
            <a:endParaRPr b="0" i="0" sz="1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"/>
              <a:buChar char="●"/>
            </a:pPr>
            <a:r>
              <a:rPr b="0" i="0" lang="en-US" sz="1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Credit score </a:t>
            </a:r>
            <a:endParaRPr b="0" i="0" sz="1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"/>
              <a:buChar char="●"/>
            </a:pPr>
            <a:r>
              <a:rPr b="0" i="0" lang="en-US" sz="1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Income group </a:t>
            </a:r>
            <a:endParaRPr b="0" i="0" sz="1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"/>
              <a:buChar char="●"/>
            </a:pPr>
            <a:r>
              <a:rPr b="0" i="0" lang="en-US" sz="1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Zip code</a:t>
            </a:r>
            <a:endParaRPr b="0" i="0" sz="1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82" name="Google Shape;182;g18e8777b765_1_505"/>
          <p:cNvGrpSpPr/>
          <p:nvPr/>
        </p:nvGrpSpPr>
        <p:grpSpPr>
          <a:xfrm>
            <a:off x="558328" y="2433072"/>
            <a:ext cx="8126611" cy="915336"/>
            <a:chOff x="943723" y="3783775"/>
            <a:chExt cx="5006229" cy="674429"/>
          </a:xfrm>
        </p:grpSpPr>
        <p:sp>
          <p:nvSpPr>
            <p:cNvPr id="183" name="Google Shape;183;g18e8777b765_1_505"/>
            <p:cNvSpPr/>
            <p:nvPr/>
          </p:nvSpPr>
          <p:spPr>
            <a:xfrm>
              <a:off x="943723" y="3783775"/>
              <a:ext cx="2379900" cy="674400"/>
            </a:xfrm>
            <a:prstGeom prst="rect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t/>
              </a:r>
              <a:endPara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g18e8777b765_1_505"/>
            <p:cNvSpPr/>
            <p:nvPr/>
          </p:nvSpPr>
          <p:spPr>
            <a:xfrm>
              <a:off x="1632122" y="3783788"/>
              <a:ext cx="674400" cy="674400"/>
            </a:xfrm>
            <a:prstGeom prst="rtTriangle">
              <a:avLst/>
            </a:prstGeom>
            <a:solidFill>
              <a:srgbClr val="7F20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t/>
              </a:r>
              <a:endPara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g18e8777b765_1_505"/>
            <p:cNvSpPr/>
            <p:nvPr/>
          </p:nvSpPr>
          <p:spPr>
            <a:xfrm>
              <a:off x="943723" y="3783788"/>
              <a:ext cx="687600" cy="674400"/>
            </a:xfrm>
            <a:prstGeom prst="rtTriangle">
              <a:avLst/>
            </a:prstGeom>
            <a:solidFill>
              <a:srgbClr val="9225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t/>
              </a:r>
              <a:endPara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g18e8777b765_1_505"/>
            <p:cNvSpPr/>
            <p:nvPr/>
          </p:nvSpPr>
          <p:spPr>
            <a:xfrm>
              <a:off x="1210848" y="3783832"/>
              <a:ext cx="425700" cy="40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b="0" i="0" lang="en-US" sz="19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b="0" i="0" sz="19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7" name="Google Shape;187;g18e8777b765_1_505"/>
            <p:cNvSpPr/>
            <p:nvPr/>
          </p:nvSpPr>
          <p:spPr>
            <a:xfrm>
              <a:off x="1636552" y="3783804"/>
              <a:ext cx="1675500" cy="67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-US" sz="13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Consumer Behavior &amp; Lifestyle Data</a:t>
              </a:r>
              <a:endPara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8" name="Google Shape;188;g18e8777b765_1_505"/>
            <p:cNvSpPr/>
            <p:nvPr/>
          </p:nvSpPr>
          <p:spPr>
            <a:xfrm>
              <a:off x="3335452" y="3783786"/>
              <a:ext cx="2614500" cy="674400"/>
            </a:xfrm>
            <a:prstGeom prst="rect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t/>
              </a:r>
              <a:endPara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9" name="Google Shape;189;g18e8777b765_1_505"/>
          <p:cNvSpPr/>
          <p:nvPr/>
        </p:nvSpPr>
        <p:spPr>
          <a:xfrm>
            <a:off x="4443580" y="1503070"/>
            <a:ext cx="2416200" cy="9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xx</a:t>
            </a:r>
            <a:endParaRPr b="0" i="0" sz="11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g18e8777b765_1_505"/>
          <p:cNvSpPr/>
          <p:nvPr/>
        </p:nvSpPr>
        <p:spPr>
          <a:xfrm>
            <a:off x="4443569" y="2433068"/>
            <a:ext cx="4243800" cy="9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Various consumer behavior details including:</a:t>
            </a:r>
            <a:endParaRPr b="0" i="0" sz="1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"/>
              <a:buChar char="●"/>
            </a:pPr>
            <a:r>
              <a:rPr b="0" i="0" lang="en-US" sz="1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Income, job</a:t>
            </a:r>
            <a:endParaRPr b="0" i="0" sz="1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"/>
              <a:buChar char="●"/>
            </a:pPr>
            <a:r>
              <a:rPr b="0" i="0" lang="en-US" sz="1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Demographic, household size</a:t>
            </a:r>
            <a:endParaRPr b="0" i="0" sz="1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"/>
              <a:buChar char="●"/>
            </a:pPr>
            <a:r>
              <a:rPr b="0" i="0" lang="en-US" sz="1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Spending habits</a:t>
            </a:r>
            <a:endParaRPr b="0" i="0" sz="1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91" name="Google Shape;191;g18e8777b765_1_505"/>
          <p:cNvGrpSpPr/>
          <p:nvPr/>
        </p:nvGrpSpPr>
        <p:grpSpPr>
          <a:xfrm>
            <a:off x="558328" y="1503017"/>
            <a:ext cx="8126614" cy="915356"/>
            <a:chOff x="943723" y="3098500"/>
            <a:chExt cx="5006230" cy="674445"/>
          </a:xfrm>
        </p:grpSpPr>
        <p:sp>
          <p:nvSpPr>
            <p:cNvPr id="192" name="Google Shape;192;g18e8777b765_1_505"/>
            <p:cNvSpPr/>
            <p:nvPr/>
          </p:nvSpPr>
          <p:spPr>
            <a:xfrm>
              <a:off x="943723" y="3098500"/>
              <a:ext cx="2379900" cy="674400"/>
            </a:xfrm>
            <a:prstGeom prst="rect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t/>
              </a:r>
              <a:endPara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g18e8777b765_1_505"/>
            <p:cNvSpPr/>
            <p:nvPr/>
          </p:nvSpPr>
          <p:spPr>
            <a:xfrm>
              <a:off x="1632122" y="3098513"/>
              <a:ext cx="674400" cy="674400"/>
            </a:xfrm>
            <a:prstGeom prst="rtTriangle">
              <a:avLst/>
            </a:prstGeom>
            <a:solidFill>
              <a:srgbClr val="7F20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t/>
              </a:r>
              <a:endPara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g18e8777b765_1_505"/>
            <p:cNvSpPr/>
            <p:nvPr/>
          </p:nvSpPr>
          <p:spPr>
            <a:xfrm>
              <a:off x="943723" y="3098513"/>
              <a:ext cx="687600" cy="674400"/>
            </a:xfrm>
            <a:prstGeom prst="rtTriangle">
              <a:avLst/>
            </a:prstGeom>
            <a:solidFill>
              <a:srgbClr val="9225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t/>
              </a:r>
              <a:endPara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g18e8777b765_1_505"/>
            <p:cNvSpPr/>
            <p:nvPr/>
          </p:nvSpPr>
          <p:spPr>
            <a:xfrm>
              <a:off x="1210848" y="3098557"/>
              <a:ext cx="425700" cy="40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b="0" i="0" lang="en-US" sz="19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b="0" i="0" sz="19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6" name="Google Shape;196;g18e8777b765_1_505"/>
            <p:cNvSpPr/>
            <p:nvPr/>
          </p:nvSpPr>
          <p:spPr>
            <a:xfrm>
              <a:off x="1636552" y="3098545"/>
              <a:ext cx="1556700" cy="67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-US" sz="13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Credit &amp; Debit Card Spend Data</a:t>
              </a:r>
              <a:endPara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7" name="Google Shape;197;g18e8777b765_1_505"/>
            <p:cNvSpPr/>
            <p:nvPr/>
          </p:nvSpPr>
          <p:spPr>
            <a:xfrm>
              <a:off x="3633813" y="3230513"/>
              <a:ext cx="410400" cy="410400"/>
            </a:xfrm>
            <a:prstGeom prst="mathMultiply">
              <a:avLst>
                <a:gd fmla="val 5080" name="adj1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t/>
              </a:r>
              <a:endPara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g18e8777b765_1_505"/>
            <p:cNvSpPr/>
            <p:nvPr/>
          </p:nvSpPr>
          <p:spPr>
            <a:xfrm>
              <a:off x="3335453" y="3098504"/>
              <a:ext cx="2614500" cy="674400"/>
            </a:xfrm>
            <a:prstGeom prst="rect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US" sz="11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Spending data including:</a:t>
              </a:r>
              <a:endParaRPr b="0" i="0" sz="1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8450" lvl="0" marL="4572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Roboto"/>
                <a:buChar char="●"/>
              </a:pPr>
              <a:r>
                <a:rPr b="0" i="0" lang="en-US" sz="11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Total spend</a:t>
              </a:r>
              <a:endParaRPr b="0" i="0" sz="1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8450" lvl="0" marL="4572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Roboto"/>
                <a:buChar char="●"/>
              </a:pPr>
              <a:r>
                <a:rPr b="0" i="0" lang="en-US" sz="11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Sector, subsector</a:t>
              </a:r>
              <a:endParaRPr b="0" i="0" sz="1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8450" lvl="0" marL="4572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Roboto"/>
                <a:buChar char="●"/>
              </a:pPr>
              <a:r>
                <a:rPr b="0" i="0" lang="en-US" sz="11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Week</a:t>
              </a:r>
              <a:endParaRPr b="0" i="0" sz="1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99" name="Google Shape;199;g18e8777b765_1_505"/>
          <p:cNvSpPr/>
          <p:nvPr/>
        </p:nvSpPr>
        <p:spPr>
          <a:xfrm>
            <a:off x="1685360" y="1080500"/>
            <a:ext cx="2738100" cy="407700"/>
          </a:xfrm>
          <a:prstGeom prst="rect">
            <a:avLst/>
          </a:prstGeom>
          <a:solidFill>
            <a:srgbClr val="701C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Dataset Name</a:t>
            </a:r>
            <a:endParaRPr b="1" i="0" sz="11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18e204b3f51_0_40"/>
          <p:cNvSpPr/>
          <p:nvPr/>
        </p:nvSpPr>
        <p:spPr>
          <a:xfrm>
            <a:off x="6819350" y="1557100"/>
            <a:ext cx="1928700" cy="2637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3E0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Predictive analysis: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ARIMA model, multivariate linear regression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18e204b3f51_0_40"/>
          <p:cNvSpPr/>
          <p:nvPr/>
        </p:nvSpPr>
        <p:spPr>
          <a:xfrm>
            <a:off x="4667550" y="1557100"/>
            <a:ext cx="1928700" cy="2637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3E0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Exploratory &amp; Descriptive analysis: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segmenting spend by various features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18e204b3f51_0_40"/>
          <p:cNvSpPr txBox="1"/>
          <p:nvPr>
            <p:ph type="title"/>
          </p:nvPr>
        </p:nvSpPr>
        <p:spPr>
          <a:xfrm>
            <a:off x="457200" y="230125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Data Analysis Summary</a:t>
            </a:r>
            <a:endParaRPr/>
          </a:p>
        </p:txBody>
      </p:sp>
      <p:sp>
        <p:nvSpPr>
          <p:cNvPr id="208" name="Google Shape;208;g18e204b3f51_0_40"/>
          <p:cNvSpPr txBox="1"/>
          <p:nvPr>
            <p:ph idx="12" type="sldNum"/>
          </p:nvPr>
        </p:nvSpPr>
        <p:spPr>
          <a:xfrm>
            <a:off x="8765451" y="4904581"/>
            <a:ext cx="378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9" name="Google Shape;209;g18e204b3f51_0_40"/>
          <p:cNvSpPr/>
          <p:nvPr/>
        </p:nvSpPr>
        <p:spPr>
          <a:xfrm>
            <a:off x="457200" y="1557099"/>
            <a:ext cx="1928700" cy="2637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3E0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Cleaning and Stacking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datasets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18e204b3f51_0_40"/>
          <p:cNvSpPr/>
          <p:nvPr/>
        </p:nvSpPr>
        <p:spPr>
          <a:xfrm>
            <a:off x="2562375" y="1557100"/>
            <a:ext cx="1928700" cy="2637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rgbClr val="3E0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Merging datasets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(credit, consumer, financial health)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18e204b3f51_0_40"/>
          <p:cNvSpPr/>
          <p:nvPr/>
        </p:nvSpPr>
        <p:spPr>
          <a:xfrm>
            <a:off x="457200" y="1557100"/>
            <a:ext cx="296100" cy="190200"/>
          </a:xfrm>
          <a:prstGeom prst="rect">
            <a:avLst/>
          </a:prstGeom>
          <a:solidFill>
            <a:srgbClr val="3E0B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18e204b3f51_0_40"/>
          <p:cNvSpPr/>
          <p:nvPr/>
        </p:nvSpPr>
        <p:spPr>
          <a:xfrm>
            <a:off x="2562381" y="1557100"/>
            <a:ext cx="296100" cy="190200"/>
          </a:xfrm>
          <a:prstGeom prst="rect">
            <a:avLst/>
          </a:prstGeom>
          <a:solidFill>
            <a:srgbClr val="3E0B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18e204b3f51_0_40"/>
          <p:cNvSpPr/>
          <p:nvPr/>
        </p:nvSpPr>
        <p:spPr>
          <a:xfrm>
            <a:off x="4662678" y="1557100"/>
            <a:ext cx="296100" cy="190200"/>
          </a:xfrm>
          <a:prstGeom prst="rect">
            <a:avLst/>
          </a:prstGeom>
          <a:solidFill>
            <a:srgbClr val="3E0B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18e204b3f51_0_40"/>
          <p:cNvSpPr/>
          <p:nvPr/>
        </p:nvSpPr>
        <p:spPr>
          <a:xfrm>
            <a:off x="6819349" y="1557100"/>
            <a:ext cx="296100" cy="190200"/>
          </a:xfrm>
          <a:prstGeom prst="rect">
            <a:avLst/>
          </a:prstGeom>
          <a:solidFill>
            <a:srgbClr val="3E0B7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5" name="Google Shape;215;g18e204b3f51_0_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0663" y="3245962"/>
            <a:ext cx="596275" cy="67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g18e204b3f51_0_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98000" y="3245964"/>
            <a:ext cx="657447" cy="67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g18e204b3f51_0_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54975" y="3253600"/>
            <a:ext cx="657450" cy="65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g18e204b3f51_0_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26488" y="3306025"/>
            <a:ext cx="657450" cy="65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182dc67332f_0_9"/>
          <p:cNvSpPr txBox="1"/>
          <p:nvPr>
            <p:ph type="title"/>
          </p:nvPr>
        </p:nvSpPr>
        <p:spPr>
          <a:xfrm>
            <a:off x="613950" y="2085450"/>
            <a:ext cx="5862000" cy="97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0B70"/>
              </a:buClr>
              <a:buSzPts val="2700"/>
              <a:buFont typeface="Arial"/>
              <a:buNone/>
            </a:pPr>
            <a:r>
              <a:rPr lang="en-US"/>
              <a:t>What kind of customers are driving changes in spending?</a:t>
            </a:r>
            <a:endParaRPr/>
          </a:p>
        </p:txBody>
      </p:sp>
      <p:sp>
        <p:nvSpPr>
          <p:cNvPr id="224" name="Google Shape;224;g182dc67332f_0_9"/>
          <p:cNvSpPr txBox="1"/>
          <p:nvPr>
            <p:ph idx="12" type="sldNum"/>
          </p:nvPr>
        </p:nvSpPr>
        <p:spPr>
          <a:xfrm>
            <a:off x="8765451" y="4904581"/>
            <a:ext cx="378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5" name="Google Shape;225;g182dc67332f_0_9"/>
          <p:cNvSpPr txBox="1"/>
          <p:nvPr>
            <p:ph idx="11" type="ftr"/>
          </p:nvPr>
        </p:nvSpPr>
        <p:spPr>
          <a:xfrm>
            <a:off x="5853367" y="4904581"/>
            <a:ext cx="2895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Copyright or confidentiality statement.</a:t>
            </a:r>
            <a:endParaRPr/>
          </a:p>
        </p:txBody>
      </p:sp>
      <p:sp>
        <p:nvSpPr>
          <p:cNvPr id="226" name="Google Shape;226;g182dc67332f_0_9"/>
          <p:cNvSpPr/>
          <p:nvPr/>
        </p:nvSpPr>
        <p:spPr>
          <a:xfrm>
            <a:off x="219875" y="2460750"/>
            <a:ext cx="296100" cy="222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8f8e31fd24_1_1"/>
          <p:cNvSpPr txBox="1"/>
          <p:nvPr>
            <p:ph type="title"/>
          </p:nvPr>
        </p:nvSpPr>
        <p:spPr>
          <a:xfrm>
            <a:off x="457200" y="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0B70"/>
              </a:buClr>
              <a:buSzPts val="3000"/>
              <a:buFont typeface="Arial"/>
              <a:buNone/>
            </a:pPr>
            <a:r>
              <a:rPr lang="en-US"/>
              <a:t>Customer Segmentation Analysis</a:t>
            </a:r>
            <a:endParaRPr/>
          </a:p>
        </p:txBody>
      </p:sp>
      <p:sp>
        <p:nvSpPr>
          <p:cNvPr id="232" name="Google Shape;232;g18f8e31fd24_1_1"/>
          <p:cNvSpPr txBox="1"/>
          <p:nvPr>
            <p:ph idx="12" type="sldNum"/>
          </p:nvPr>
        </p:nvSpPr>
        <p:spPr>
          <a:xfrm>
            <a:off x="8765451" y="4904581"/>
            <a:ext cx="378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3" name="Google Shape;233;g18f8e31fd24_1_1"/>
          <p:cNvSpPr txBox="1"/>
          <p:nvPr>
            <p:ph idx="11" type="ftr"/>
          </p:nvPr>
        </p:nvSpPr>
        <p:spPr>
          <a:xfrm>
            <a:off x="5853367" y="4904581"/>
            <a:ext cx="2895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Copyright or confidentiality statement.</a:t>
            </a:r>
            <a:endParaRPr/>
          </a:p>
        </p:txBody>
      </p:sp>
      <p:sp>
        <p:nvSpPr>
          <p:cNvPr id="234" name="Google Shape;234;g18f8e31fd24_1_1"/>
          <p:cNvSpPr/>
          <p:nvPr/>
        </p:nvSpPr>
        <p:spPr>
          <a:xfrm>
            <a:off x="161100" y="317700"/>
            <a:ext cx="296100" cy="222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g18f8e31fd24_1_1"/>
          <p:cNvSpPr txBox="1"/>
          <p:nvPr>
            <p:ph idx="1" type="body"/>
          </p:nvPr>
        </p:nvSpPr>
        <p:spPr>
          <a:xfrm>
            <a:off x="457200" y="1184275"/>
            <a:ext cx="8229600" cy="3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671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US"/>
              <a:t>Oldest age brackets (55+) represent </a:t>
            </a:r>
            <a:r>
              <a:rPr b="1" lang="en-US"/>
              <a:t>53% of total spend</a:t>
            </a:r>
            <a:endParaRPr b="1"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96774"/>
              <a:buNone/>
            </a:pPr>
            <a:r>
              <a:t/>
            </a:r>
            <a:endParaRPr b="1"/>
          </a:p>
          <a:p>
            <a:pPr indent="-34671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US"/>
              <a:t>Average spend for 65+ segment is </a:t>
            </a:r>
            <a:r>
              <a:rPr b="1" lang="en-US"/>
              <a:t>1.5x </a:t>
            </a:r>
            <a:r>
              <a:rPr lang="en-US"/>
              <a:t>the average for the youngest age brackets</a:t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96774"/>
              <a:buNone/>
            </a:pPr>
            <a:r>
              <a:t/>
            </a:r>
            <a:endParaRPr/>
          </a:p>
          <a:p>
            <a:pPr indent="-34671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US"/>
              <a:t>Highest income brackets make up </a:t>
            </a:r>
            <a:r>
              <a:rPr b="1" lang="en-US"/>
              <a:t>67% of total spend; </a:t>
            </a:r>
            <a:r>
              <a:rPr lang="en-US"/>
              <a:t>total and average spend are </a:t>
            </a:r>
            <a:r>
              <a:rPr b="1" lang="en-US"/>
              <a:t>roughly similar for households with income &lt;$100k 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18e204b3f51_0_0"/>
          <p:cNvSpPr/>
          <p:nvPr/>
        </p:nvSpPr>
        <p:spPr>
          <a:xfrm>
            <a:off x="5610150" y="1270300"/>
            <a:ext cx="1836900" cy="231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-213358" lvl="0" marL="3657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 spend is consistently higher for each subsequent age bracket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3358" lvl="0" marL="3657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oldest 2 age brackets (55-64 and 65+) represent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53%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 total spend across the time period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g18e204b3f51_0_0"/>
          <p:cNvSpPr txBox="1"/>
          <p:nvPr>
            <p:ph type="title"/>
          </p:nvPr>
        </p:nvSpPr>
        <p:spPr>
          <a:xfrm>
            <a:off x="457200" y="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6666"/>
              <a:buNone/>
            </a:pPr>
            <a:r>
              <a:rPr lang="en-US"/>
              <a:t>Older age groups largely dominate the total spend between 2019 and 2022</a:t>
            </a:r>
            <a:endParaRPr/>
          </a:p>
        </p:txBody>
      </p:sp>
      <p:sp>
        <p:nvSpPr>
          <p:cNvPr id="243" name="Google Shape;243;g18e204b3f51_0_0"/>
          <p:cNvSpPr txBox="1"/>
          <p:nvPr>
            <p:ph idx="12" type="sldNum"/>
          </p:nvPr>
        </p:nvSpPr>
        <p:spPr>
          <a:xfrm>
            <a:off x="8765451" y="4904581"/>
            <a:ext cx="378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4" name="Google Shape;244;g18e204b3f51_0_0"/>
          <p:cNvSpPr/>
          <p:nvPr/>
        </p:nvSpPr>
        <p:spPr>
          <a:xfrm>
            <a:off x="161100" y="317700"/>
            <a:ext cx="296100" cy="222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g18e204b3f51_0_0"/>
          <p:cNvSpPr/>
          <p:nvPr/>
        </p:nvSpPr>
        <p:spPr>
          <a:xfrm>
            <a:off x="556525" y="978675"/>
            <a:ext cx="59904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 Spend by Age Bracket - Cumulative 2019-22</a:t>
            </a:r>
            <a:endParaRPr b="1" i="0" sz="14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g18e204b3f51_0_0"/>
          <p:cNvSpPr/>
          <p:nvPr/>
        </p:nvSpPr>
        <p:spPr>
          <a:xfrm>
            <a:off x="5516975" y="982950"/>
            <a:ext cx="18369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Takeaways</a:t>
            </a:r>
            <a:endParaRPr b="1" i="0" sz="14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7" name="Google Shape;247;g18e204b3f51_0_0" title="Chart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6221" y="1270650"/>
            <a:ext cx="3536154" cy="2244774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g18e204b3f51_0_0"/>
          <p:cNvSpPr/>
          <p:nvPr/>
        </p:nvSpPr>
        <p:spPr>
          <a:xfrm>
            <a:off x="1432774" y="1886728"/>
            <a:ext cx="570300" cy="1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18-24</a:t>
            </a:r>
            <a:endParaRPr b="1" i="0" sz="1000" u="none" cap="none" strike="noStrike">
              <a:solidFill>
                <a:srgbClr val="4A86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g18e204b3f51_0_0"/>
          <p:cNvSpPr/>
          <p:nvPr/>
        </p:nvSpPr>
        <p:spPr>
          <a:xfrm>
            <a:off x="1432774" y="2035413"/>
            <a:ext cx="570300" cy="1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25-34</a:t>
            </a:r>
            <a:endParaRPr b="1" i="0" sz="1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g18e204b3f51_0_0"/>
          <p:cNvSpPr/>
          <p:nvPr/>
        </p:nvSpPr>
        <p:spPr>
          <a:xfrm>
            <a:off x="1432774" y="2184970"/>
            <a:ext cx="570300" cy="1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35-44</a:t>
            </a:r>
            <a:endParaRPr b="1" i="0" sz="10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g18e204b3f51_0_0"/>
          <p:cNvSpPr/>
          <p:nvPr/>
        </p:nvSpPr>
        <p:spPr>
          <a:xfrm>
            <a:off x="1426725" y="2334526"/>
            <a:ext cx="570300" cy="1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45-54</a:t>
            </a:r>
            <a:endParaRPr b="1" i="0" sz="10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g18e204b3f51_0_0"/>
          <p:cNvSpPr/>
          <p:nvPr/>
        </p:nvSpPr>
        <p:spPr>
          <a:xfrm>
            <a:off x="1420675" y="2486014"/>
            <a:ext cx="570300" cy="1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55-64</a:t>
            </a:r>
            <a:endParaRPr b="1" i="0" sz="10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g18e204b3f51_0_0"/>
          <p:cNvSpPr/>
          <p:nvPr/>
        </p:nvSpPr>
        <p:spPr>
          <a:xfrm>
            <a:off x="1433260" y="2645170"/>
            <a:ext cx="570300" cy="1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65+</a:t>
            </a:r>
            <a:endParaRPr b="1" i="0" sz="10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g18e204b3f51_0_0"/>
          <p:cNvSpPr/>
          <p:nvPr/>
        </p:nvSpPr>
        <p:spPr>
          <a:xfrm>
            <a:off x="5338325" y="2486007"/>
            <a:ext cx="178500" cy="2778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3E0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18e204b3f51_0_22"/>
          <p:cNvSpPr/>
          <p:nvPr/>
        </p:nvSpPr>
        <p:spPr>
          <a:xfrm>
            <a:off x="5002900" y="1263725"/>
            <a:ext cx="2048700" cy="260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-213358" lvl="0" marL="3657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Average spend is consistently higher for each subsequent age bracket but the discrepancy is not as large as aggregate spend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3358" lvl="0" marL="3657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average spend for 65+ age bracket is ~</a:t>
            </a: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1.5x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average spend of the youngest age bracket (18-24)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g18e204b3f51_0_22"/>
          <p:cNvSpPr txBox="1"/>
          <p:nvPr>
            <p:ph type="title"/>
          </p:nvPr>
        </p:nvSpPr>
        <p:spPr>
          <a:xfrm>
            <a:off x="457200" y="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6666"/>
              <a:buNone/>
            </a:pPr>
            <a:r>
              <a:rPr lang="en-US"/>
              <a:t>In addition to aggregate spend, older age groups also show more average spend per customer</a:t>
            </a:r>
            <a:endParaRPr/>
          </a:p>
        </p:txBody>
      </p:sp>
      <p:sp>
        <p:nvSpPr>
          <p:cNvPr id="262" name="Google Shape;262;g18e204b3f51_0_22"/>
          <p:cNvSpPr txBox="1"/>
          <p:nvPr>
            <p:ph idx="12" type="sldNum"/>
          </p:nvPr>
        </p:nvSpPr>
        <p:spPr>
          <a:xfrm>
            <a:off x="8765451" y="4904581"/>
            <a:ext cx="378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3" name="Google Shape;263;g18e204b3f51_0_22"/>
          <p:cNvSpPr/>
          <p:nvPr/>
        </p:nvSpPr>
        <p:spPr>
          <a:xfrm>
            <a:off x="161100" y="317700"/>
            <a:ext cx="296100" cy="222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g18e204b3f51_0_22"/>
          <p:cNvSpPr/>
          <p:nvPr/>
        </p:nvSpPr>
        <p:spPr>
          <a:xfrm>
            <a:off x="457175" y="982950"/>
            <a:ext cx="59904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Average Spend per Age Bracket </a:t>
            </a:r>
            <a:endParaRPr b="1" i="0" sz="14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g18e204b3f51_0_22"/>
          <p:cNvSpPr/>
          <p:nvPr/>
        </p:nvSpPr>
        <p:spPr>
          <a:xfrm>
            <a:off x="4951050" y="982950"/>
            <a:ext cx="18369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Takeaways</a:t>
            </a:r>
            <a:endParaRPr b="1" i="0" sz="14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g18e204b3f51_0_22"/>
          <p:cNvSpPr/>
          <p:nvPr/>
        </p:nvSpPr>
        <p:spPr>
          <a:xfrm>
            <a:off x="1857949" y="1962111"/>
            <a:ext cx="5703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18-24</a:t>
            </a:r>
            <a:endParaRPr b="1" i="0" sz="1000" u="none" cap="none" strike="noStrike">
              <a:solidFill>
                <a:srgbClr val="4A86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g18e204b3f51_0_22"/>
          <p:cNvSpPr/>
          <p:nvPr/>
        </p:nvSpPr>
        <p:spPr>
          <a:xfrm>
            <a:off x="1857949" y="2130118"/>
            <a:ext cx="5703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25-34</a:t>
            </a:r>
            <a:endParaRPr b="1" i="0" sz="1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g18e204b3f51_0_22"/>
          <p:cNvSpPr/>
          <p:nvPr/>
        </p:nvSpPr>
        <p:spPr>
          <a:xfrm>
            <a:off x="1857949" y="2299109"/>
            <a:ext cx="5703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35-44</a:t>
            </a:r>
            <a:endParaRPr b="1" i="0" sz="10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g18e204b3f51_0_22"/>
          <p:cNvSpPr/>
          <p:nvPr/>
        </p:nvSpPr>
        <p:spPr>
          <a:xfrm>
            <a:off x="1851900" y="2468099"/>
            <a:ext cx="5703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45-54</a:t>
            </a:r>
            <a:endParaRPr b="1" i="0" sz="10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g18e204b3f51_0_22"/>
          <p:cNvSpPr/>
          <p:nvPr/>
        </p:nvSpPr>
        <p:spPr>
          <a:xfrm>
            <a:off x="1845850" y="2639273"/>
            <a:ext cx="5703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55-64</a:t>
            </a:r>
            <a:endParaRPr b="1" i="0" sz="10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18e204b3f51_0_22"/>
          <p:cNvSpPr/>
          <p:nvPr/>
        </p:nvSpPr>
        <p:spPr>
          <a:xfrm>
            <a:off x="1858435" y="2819110"/>
            <a:ext cx="5703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65+</a:t>
            </a:r>
            <a:endParaRPr b="1" i="0" sz="10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2" name="Google Shape;272;g18e204b3f51_0_22" title="Chart"/>
          <p:cNvPicPr preferRelativeResize="0"/>
          <p:nvPr/>
        </p:nvPicPr>
        <p:blipFill rotWithShape="1">
          <a:blip r:embed="rId3">
            <a:alphaModFix/>
          </a:blip>
          <a:srcRect b="0" l="0" r="18725" t="0"/>
          <a:stretch/>
        </p:blipFill>
        <p:spPr>
          <a:xfrm>
            <a:off x="2330872" y="1270650"/>
            <a:ext cx="2433552" cy="2535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3" name="Google Shape;273;g18e204b3f51_0_22"/>
          <p:cNvCxnSpPr/>
          <p:nvPr/>
        </p:nvCxnSpPr>
        <p:spPr>
          <a:xfrm rot="10800000">
            <a:off x="4764575" y="2915625"/>
            <a:ext cx="285600" cy="8700"/>
          </a:xfrm>
          <a:prstGeom prst="straightConnector1">
            <a:avLst/>
          </a:prstGeom>
          <a:noFill/>
          <a:ln cap="flat" cmpd="sng" w="19050">
            <a:solidFill>
              <a:srgbClr val="3E0B7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4" name="Google Shape;274;g18e204b3f51_0_22"/>
          <p:cNvCxnSpPr/>
          <p:nvPr/>
        </p:nvCxnSpPr>
        <p:spPr>
          <a:xfrm rot="10800000">
            <a:off x="3794100" y="2014425"/>
            <a:ext cx="1276800" cy="909900"/>
          </a:xfrm>
          <a:prstGeom prst="curvedConnector3">
            <a:avLst>
              <a:gd fmla="val 10558" name="adj1"/>
            </a:avLst>
          </a:prstGeom>
          <a:noFill/>
          <a:ln cap="flat" cmpd="sng" w="19050">
            <a:solidFill>
              <a:srgbClr val="3E0B7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18e204b3f51_0_48"/>
          <p:cNvSpPr/>
          <p:nvPr/>
        </p:nvSpPr>
        <p:spPr>
          <a:xfrm>
            <a:off x="6849875" y="1270650"/>
            <a:ext cx="1836900" cy="31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-213358" lvl="0" marL="3657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 spend is within a similar range for incomes between $20k and $100k annually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3358" lvl="0" marL="3657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highest income brackets make up the vast majority of total spend; especially the $150k+ segment making up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67%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 total spend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g18e204b3f51_0_48"/>
          <p:cNvSpPr txBox="1"/>
          <p:nvPr>
            <p:ph idx="12" type="sldNum"/>
          </p:nvPr>
        </p:nvSpPr>
        <p:spPr>
          <a:xfrm>
            <a:off x="8765451" y="4904581"/>
            <a:ext cx="378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2" name="Google Shape;282;g18e204b3f51_0_48"/>
          <p:cNvSpPr/>
          <p:nvPr/>
        </p:nvSpPr>
        <p:spPr>
          <a:xfrm>
            <a:off x="161100" y="317700"/>
            <a:ext cx="296100" cy="222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g18e204b3f51_0_48"/>
          <p:cNvSpPr/>
          <p:nvPr/>
        </p:nvSpPr>
        <p:spPr>
          <a:xfrm>
            <a:off x="6850025" y="982950"/>
            <a:ext cx="18369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Takeaways</a:t>
            </a:r>
            <a:endParaRPr b="1" i="0" sz="14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4" name="Google Shape;284;g18e204b3f51_0_48" title="Chart"/>
          <p:cNvPicPr preferRelativeResize="0"/>
          <p:nvPr/>
        </p:nvPicPr>
        <p:blipFill rotWithShape="1">
          <a:blip r:embed="rId3">
            <a:alphaModFix/>
          </a:blip>
          <a:srcRect b="0" l="0" r="6923" t="0"/>
          <a:stretch/>
        </p:blipFill>
        <p:spPr>
          <a:xfrm>
            <a:off x="1804375" y="1346100"/>
            <a:ext cx="3857625" cy="2075975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g18e204b3f51_0_48"/>
          <p:cNvSpPr/>
          <p:nvPr/>
        </p:nvSpPr>
        <p:spPr>
          <a:xfrm>
            <a:off x="1228175" y="1917054"/>
            <a:ext cx="725100" cy="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&lt;$20k</a:t>
            </a:r>
            <a:endParaRPr b="1" i="0" sz="1000" u="none" cap="none" strike="noStrike">
              <a:solidFill>
                <a:srgbClr val="4A86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g18e204b3f51_0_48"/>
          <p:cNvSpPr/>
          <p:nvPr/>
        </p:nvSpPr>
        <p:spPr>
          <a:xfrm>
            <a:off x="1228175" y="2044273"/>
            <a:ext cx="725100" cy="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$21-40k</a:t>
            </a:r>
            <a:endParaRPr b="1" i="0" sz="1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g18e204b3f51_0_48"/>
          <p:cNvSpPr/>
          <p:nvPr/>
        </p:nvSpPr>
        <p:spPr>
          <a:xfrm>
            <a:off x="1228175" y="2164221"/>
            <a:ext cx="725100" cy="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$41-60k</a:t>
            </a:r>
            <a:endParaRPr b="1" i="0" sz="10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g18e204b3f51_0_48"/>
          <p:cNvSpPr/>
          <p:nvPr/>
        </p:nvSpPr>
        <p:spPr>
          <a:xfrm>
            <a:off x="1228175" y="2284168"/>
            <a:ext cx="725100" cy="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AA84F"/>
                </a:solidFill>
                <a:latin typeface="Arial"/>
                <a:ea typeface="Arial"/>
                <a:cs typeface="Arial"/>
                <a:sym typeface="Arial"/>
              </a:rPr>
              <a:t>$61-80k</a:t>
            </a:r>
            <a:endParaRPr b="1" i="0" sz="1000" u="none" cap="none" strike="noStrike">
              <a:solidFill>
                <a:srgbClr val="6AA8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g18e204b3f51_0_48"/>
          <p:cNvSpPr/>
          <p:nvPr/>
        </p:nvSpPr>
        <p:spPr>
          <a:xfrm>
            <a:off x="1228175" y="2411383"/>
            <a:ext cx="725100" cy="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$81-100k</a:t>
            </a:r>
            <a:endParaRPr b="1" i="0" sz="1000" u="none" cap="none" strike="noStrik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g18e204b3f51_0_48"/>
          <p:cNvSpPr/>
          <p:nvPr/>
        </p:nvSpPr>
        <p:spPr>
          <a:xfrm>
            <a:off x="1051325" y="2531335"/>
            <a:ext cx="902100" cy="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$101-150k</a:t>
            </a:r>
            <a:endParaRPr b="1" i="0" sz="10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g18e204b3f51_0_48"/>
          <p:cNvSpPr/>
          <p:nvPr/>
        </p:nvSpPr>
        <p:spPr>
          <a:xfrm>
            <a:off x="1051325" y="2644015"/>
            <a:ext cx="902100" cy="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$150k+</a:t>
            </a:r>
            <a:endParaRPr b="1" i="0" sz="10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g18e204b3f51_0_48"/>
          <p:cNvSpPr txBox="1"/>
          <p:nvPr>
            <p:ph type="title"/>
          </p:nvPr>
        </p:nvSpPr>
        <p:spPr>
          <a:xfrm>
            <a:off x="457200" y="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6666"/>
              <a:buNone/>
            </a:pPr>
            <a:r>
              <a:rPr lang="en-US"/>
              <a:t>Total spend is dominated by largest income brackets but is similar for &lt;$100k segments</a:t>
            </a:r>
            <a:endParaRPr/>
          </a:p>
        </p:txBody>
      </p:sp>
      <p:cxnSp>
        <p:nvCxnSpPr>
          <p:cNvPr id="293" name="Google Shape;293;g18e204b3f51_0_48"/>
          <p:cNvCxnSpPr/>
          <p:nvPr/>
        </p:nvCxnSpPr>
        <p:spPr>
          <a:xfrm rot="10800000">
            <a:off x="5231550" y="2693800"/>
            <a:ext cx="451200" cy="2400"/>
          </a:xfrm>
          <a:prstGeom prst="straightConnector1">
            <a:avLst/>
          </a:prstGeom>
          <a:noFill/>
          <a:ln cap="flat" cmpd="sng" w="19050">
            <a:solidFill>
              <a:srgbClr val="3E0B7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4" name="Google Shape;294;g18e204b3f51_0_48"/>
          <p:cNvSpPr/>
          <p:nvPr/>
        </p:nvSpPr>
        <p:spPr>
          <a:xfrm>
            <a:off x="2427803" y="2044273"/>
            <a:ext cx="147000" cy="4614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3E0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g18e204b3f51_0_48"/>
          <p:cNvSpPr/>
          <p:nvPr/>
        </p:nvSpPr>
        <p:spPr>
          <a:xfrm>
            <a:off x="457200" y="1375029"/>
            <a:ext cx="59904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sng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Total Spend by Income Bracket - Cumulative 2019-22</a:t>
            </a:r>
            <a:endParaRPr b="1" i="0" sz="1400" u="sng" cap="none" strike="noStrike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18e204b3f51_0_73"/>
          <p:cNvSpPr/>
          <p:nvPr/>
        </p:nvSpPr>
        <p:spPr>
          <a:xfrm>
            <a:off x="6849875" y="1270650"/>
            <a:ext cx="1836900" cy="31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-213358" lvl="0" marL="3657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Similar to aggregate total spend, segments below $100k show roughly similar levels of spend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3358" lvl="0" marL="3657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discrepancy between the $101-$150k and $150k+ segments (the 2 highest income segments) is not as high as in aggregate spend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g18e204b3f51_0_73"/>
          <p:cNvSpPr txBox="1"/>
          <p:nvPr>
            <p:ph idx="12" type="sldNum"/>
          </p:nvPr>
        </p:nvSpPr>
        <p:spPr>
          <a:xfrm>
            <a:off x="8765451" y="4904581"/>
            <a:ext cx="378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3" name="Google Shape;303;g18e204b3f51_0_73"/>
          <p:cNvSpPr/>
          <p:nvPr/>
        </p:nvSpPr>
        <p:spPr>
          <a:xfrm>
            <a:off x="161100" y="317700"/>
            <a:ext cx="296100" cy="222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g18e204b3f51_0_73"/>
          <p:cNvSpPr/>
          <p:nvPr/>
        </p:nvSpPr>
        <p:spPr>
          <a:xfrm>
            <a:off x="457175" y="982950"/>
            <a:ext cx="59904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Average Spend per Income Bracket </a:t>
            </a:r>
            <a:endParaRPr b="1" i="0" sz="1400" u="sng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g18e204b3f51_0_73"/>
          <p:cNvSpPr/>
          <p:nvPr/>
        </p:nvSpPr>
        <p:spPr>
          <a:xfrm>
            <a:off x="6850025" y="982950"/>
            <a:ext cx="18369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Takeaways</a:t>
            </a:r>
            <a:endParaRPr b="1" i="0" sz="14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g18e204b3f51_0_73"/>
          <p:cNvSpPr txBox="1"/>
          <p:nvPr>
            <p:ph type="title"/>
          </p:nvPr>
        </p:nvSpPr>
        <p:spPr>
          <a:xfrm>
            <a:off x="457200" y="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6666"/>
              <a:buNone/>
            </a:pPr>
            <a:r>
              <a:rPr lang="en-US"/>
              <a:t>Average spend shows similar patterns but the difference between largest brackets is smaller</a:t>
            </a:r>
            <a:endParaRPr/>
          </a:p>
        </p:txBody>
      </p:sp>
      <p:pic>
        <p:nvPicPr>
          <p:cNvPr id="307" name="Google Shape;307;g18e204b3f51_0_73" title="Chart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7700" y="1346850"/>
            <a:ext cx="2615619" cy="2521151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g18e204b3f51_0_73"/>
          <p:cNvSpPr/>
          <p:nvPr/>
        </p:nvSpPr>
        <p:spPr>
          <a:xfrm>
            <a:off x="1591150" y="2049605"/>
            <a:ext cx="7251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&lt;$20k</a:t>
            </a:r>
            <a:endParaRPr b="1" i="0" sz="1000" u="none" cap="none" strike="noStrike">
              <a:solidFill>
                <a:srgbClr val="4A86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g18e204b3f51_0_73"/>
          <p:cNvSpPr/>
          <p:nvPr/>
        </p:nvSpPr>
        <p:spPr>
          <a:xfrm>
            <a:off x="1591150" y="2203999"/>
            <a:ext cx="7251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$21-40k</a:t>
            </a:r>
            <a:endParaRPr b="1" i="0" sz="1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g18e204b3f51_0_73"/>
          <p:cNvSpPr/>
          <p:nvPr/>
        </p:nvSpPr>
        <p:spPr>
          <a:xfrm>
            <a:off x="1591150" y="2349566"/>
            <a:ext cx="7251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$41-60k</a:t>
            </a:r>
            <a:endParaRPr b="1" i="0" sz="10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g18e204b3f51_0_73"/>
          <p:cNvSpPr/>
          <p:nvPr/>
        </p:nvSpPr>
        <p:spPr>
          <a:xfrm>
            <a:off x="1591150" y="2495135"/>
            <a:ext cx="7251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AA84F"/>
                </a:solidFill>
                <a:latin typeface="Arial"/>
                <a:ea typeface="Arial"/>
                <a:cs typeface="Arial"/>
                <a:sym typeface="Arial"/>
              </a:rPr>
              <a:t>$61-80k</a:t>
            </a:r>
            <a:endParaRPr b="1" i="0" sz="1000" u="none" cap="none" strike="noStrike">
              <a:solidFill>
                <a:srgbClr val="6AA8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g18e204b3f51_0_73"/>
          <p:cNvSpPr/>
          <p:nvPr/>
        </p:nvSpPr>
        <p:spPr>
          <a:xfrm>
            <a:off x="1591150" y="2649523"/>
            <a:ext cx="7251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$81-100k</a:t>
            </a:r>
            <a:endParaRPr b="1" i="0" sz="1000" u="none" cap="none" strike="noStrik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g18e204b3f51_0_73"/>
          <p:cNvSpPr/>
          <p:nvPr/>
        </p:nvSpPr>
        <p:spPr>
          <a:xfrm>
            <a:off x="1414300" y="2795097"/>
            <a:ext cx="9021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$101-150k</a:t>
            </a:r>
            <a:endParaRPr b="1" i="0" sz="10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g18e204b3f51_0_73"/>
          <p:cNvSpPr/>
          <p:nvPr/>
        </p:nvSpPr>
        <p:spPr>
          <a:xfrm>
            <a:off x="1414300" y="2931844"/>
            <a:ext cx="9021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$150k+</a:t>
            </a:r>
            <a:endParaRPr b="1" i="0" sz="10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g18e204b3f51_0_73"/>
          <p:cNvSpPr/>
          <p:nvPr/>
        </p:nvSpPr>
        <p:spPr>
          <a:xfrm>
            <a:off x="4816887" y="2700899"/>
            <a:ext cx="88200" cy="3789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3E0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g18e204b3f51_0_73"/>
          <p:cNvSpPr/>
          <p:nvPr/>
        </p:nvSpPr>
        <p:spPr>
          <a:xfrm>
            <a:off x="2836377" y="2049601"/>
            <a:ext cx="88200" cy="7143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3E0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322;g19a8997bf46_0_5" title="Chart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49750" y="611700"/>
            <a:ext cx="2250276" cy="2075975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g19a8997bf46_0_5"/>
          <p:cNvSpPr/>
          <p:nvPr/>
        </p:nvSpPr>
        <p:spPr>
          <a:xfrm>
            <a:off x="3863199" y="1190365"/>
            <a:ext cx="725100" cy="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&lt;$20k</a:t>
            </a:r>
            <a:endParaRPr b="1" i="0" sz="1000" u="none" cap="none" strike="noStrike">
              <a:solidFill>
                <a:srgbClr val="4A86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g19a8997bf46_0_5"/>
          <p:cNvSpPr/>
          <p:nvPr/>
        </p:nvSpPr>
        <p:spPr>
          <a:xfrm>
            <a:off x="3863199" y="1317497"/>
            <a:ext cx="725100" cy="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$21-40k</a:t>
            </a:r>
            <a:endParaRPr b="1" i="0" sz="1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g19a8997bf46_0_5"/>
          <p:cNvSpPr/>
          <p:nvPr/>
        </p:nvSpPr>
        <p:spPr>
          <a:xfrm>
            <a:off x="3863199" y="1437360"/>
            <a:ext cx="725100" cy="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$41-60k</a:t>
            </a:r>
            <a:endParaRPr b="1" i="0" sz="10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g19a8997bf46_0_5"/>
          <p:cNvSpPr/>
          <p:nvPr/>
        </p:nvSpPr>
        <p:spPr>
          <a:xfrm>
            <a:off x="3863199" y="1557225"/>
            <a:ext cx="725100" cy="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AA84F"/>
                </a:solidFill>
                <a:latin typeface="Arial"/>
                <a:ea typeface="Arial"/>
                <a:cs typeface="Arial"/>
                <a:sym typeface="Arial"/>
              </a:rPr>
              <a:t>$61-80k</a:t>
            </a:r>
            <a:endParaRPr b="1" i="0" sz="1000" u="none" cap="none" strike="noStrike">
              <a:solidFill>
                <a:srgbClr val="6AA8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g19a8997bf46_0_5"/>
          <p:cNvSpPr/>
          <p:nvPr/>
        </p:nvSpPr>
        <p:spPr>
          <a:xfrm>
            <a:off x="3863199" y="1684352"/>
            <a:ext cx="725100" cy="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$81-100k</a:t>
            </a:r>
            <a:endParaRPr b="1" i="0" sz="1000" u="none" cap="none" strike="noStrik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g19a8997bf46_0_5"/>
          <p:cNvSpPr/>
          <p:nvPr/>
        </p:nvSpPr>
        <p:spPr>
          <a:xfrm>
            <a:off x="3686350" y="1804221"/>
            <a:ext cx="902100" cy="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$101-150k</a:t>
            </a:r>
            <a:endParaRPr b="1" i="0" sz="10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g19a8997bf46_0_5"/>
          <p:cNvSpPr/>
          <p:nvPr/>
        </p:nvSpPr>
        <p:spPr>
          <a:xfrm>
            <a:off x="3686350" y="1916822"/>
            <a:ext cx="902100" cy="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$150k+</a:t>
            </a:r>
            <a:endParaRPr b="1" i="0" sz="10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g19a8997bf46_0_5"/>
          <p:cNvSpPr/>
          <p:nvPr/>
        </p:nvSpPr>
        <p:spPr>
          <a:xfrm>
            <a:off x="6700025" y="1695331"/>
            <a:ext cx="88200" cy="3117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3E0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g19a8997bf46_0_5"/>
          <p:cNvSpPr/>
          <p:nvPr/>
        </p:nvSpPr>
        <p:spPr>
          <a:xfrm>
            <a:off x="5108422" y="1190362"/>
            <a:ext cx="88200" cy="5886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3E0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g19a8997bf46_0_5"/>
          <p:cNvSpPr txBox="1"/>
          <p:nvPr>
            <p:ph idx="12" type="sldNum"/>
          </p:nvPr>
        </p:nvSpPr>
        <p:spPr>
          <a:xfrm>
            <a:off x="8765451" y="4904581"/>
            <a:ext cx="378600" cy="274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33" name="Google Shape;333;g19a8997bf46_0_5" title="Chart"/>
          <p:cNvPicPr preferRelativeResize="0"/>
          <p:nvPr/>
        </p:nvPicPr>
        <p:blipFill rotWithShape="1">
          <a:blip r:embed="rId4">
            <a:alphaModFix/>
          </a:blip>
          <a:srcRect b="0" l="0" r="6924" t="0"/>
          <a:stretch/>
        </p:blipFill>
        <p:spPr>
          <a:xfrm>
            <a:off x="1773275" y="611700"/>
            <a:ext cx="1913076" cy="2075975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g19a8997bf46_0_5"/>
          <p:cNvSpPr/>
          <p:nvPr/>
        </p:nvSpPr>
        <p:spPr>
          <a:xfrm>
            <a:off x="1169350" y="1158791"/>
            <a:ext cx="725100" cy="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&lt;$20k</a:t>
            </a:r>
            <a:endParaRPr b="1" i="0" sz="1000" u="none" cap="none" strike="noStrike">
              <a:solidFill>
                <a:srgbClr val="4A86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g19a8997bf46_0_5"/>
          <p:cNvSpPr/>
          <p:nvPr/>
        </p:nvSpPr>
        <p:spPr>
          <a:xfrm>
            <a:off x="1169350" y="1286011"/>
            <a:ext cx="725100" cy="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$21-40k</a:t>
            </a:r>
            <a:endParaRPr b="1" i="0" sz="1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g19a8997bf46_0_5"/>
          <p:cNvSpPr/>
          <p:nvPr/>
        </p:nvSpPr>
        <p:spPr>
          <a:xfrm>
            <a:off x="1169350" y="1405958"/>
            <a:ext cx="725100" cy="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$41-60k</a:t>
            </a:r>
            <a:endParaRPr b="1" i="0" sz="10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g19a8997bf46_0_5"/>
          <p:cNvSpPr/>
          <p:nvPr/>
        </p:nvSpPr>
        <p:spPr>
          <a:xfrm>
            <a:off x="1169350" y="1525905"/>
            <a:ext cx="725100" cy="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AA84F"/>
                </a:solidFill>
                <a:latin typeface="Arial"/>
                <a:ea typeface="Arial"/>
                <a:cs typeface="Arial"/>
                <a:sym typeface="Arial"/>
              </a:rPr>
              <a:t>$61-80k</a:t>
            </a:r>
            <a:endParaRPr b="1" i="0" sz="1000" u="none" cap="none" strike="noStrike">
              <a:solidFill>
                <a:srgbClr val="6AA8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g19a8997bf46_0_5"/>
          <p:cNvSpPr/>
          <p:nvPr/>
        </p:nvSpPr>
        <p:spPr>
          <a:xfrm>
            <a:off x="1169350" y="1653120"/>
            <a:ext cx="725100" cy="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$81-100k</a:t>
            </a:r>
            <a:endParaRPr b="1" i="0" sz="1000" u="none" cap="none" strike="noStrik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g19a8997bf46_0_5"/>
          <p:cNvSpPr/>
          <p:nvPr/>
        </p:nvSpPr>
        <p:spPr>
          <a:xfrm>
            <a:off x="992500" y="1773073"/>
            <a:ext cx="902100" cy="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$101-150k</a:t>
            </a:r>
            <a:endParaRPr b="1" i="0" sz="10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g19a8997bf46_0_5"/>
          <p:cNvSpPr/>
          <p:nvPr/>
        </p:nvSpPr>
        <p:spPr>
          <a:xfrm>
            <a:off x="992500" y="1885752"/>
            <a:ext cx="902100" cy="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$150k+</a:t>
            </a:r>
            <a:endParaRPr b="1" i="0" sz="10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1" name="Google Shape;341;g19a8997bf46_0_5"/>
          <p:cNvCxnSpPr/>
          <p:nvPr/>
        </p:nvCxnSpPr>
        <p:spPr>
          <a:xfrm rot="10800000">
            <a:off x="3437450" y="1962575"/>
            <a:ext cx="360600" cy="2400"/>
          </a:xfrm>
          <a:prstGeom prst="straightConnector1">
            <a:avLst/>
          </a:prstGeom>
          <a:noFill/>
          <a:ln cap="flat" cmpd="sng" w="19050">
            <a:solidFill>
              <a:srgbClr val="3E0B7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2" name="Google Shape;342;g19a8997bf46_0_5"/>
          <p:cNvSpPr/>
          <p:nvPr/>
        </p:nvSpPr>
        <p:spPr>
          <a:xfrm>
            <a:off x="2172812" y="1309873"/>
            <a:ext cx="84600" cy="4614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3E0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g19a8997bf46_0_5"/>
          <p:cNvSpPr/>
          <p:nvPr/>
        </p:nvSpPr>
        <p:spPr>
          <a:xfrm>
            <a:off x="1169350" y="645800"/>
            <a:ext cx="2816400" cy="391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300" u="sng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Total Spend by Income Bracket</a:t>
            </a:r>
            <a:endParaRPr b="1" i="0" sz="1300" u="sng" cap="none" strike="noStrike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g19a8997bf46_0_5"/>
          <p:cNvSpPr/>
          <p:nvPr/>
        </p:nvSpPr>
        <p:spPr>
          <a:xfrm>
            <a:off x="3957700" y="678350"/>
            <a:ext cx="2896800" cy="326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300" u="sng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Average Spend </a:t>
            </a:r>
            <a:r>
              <a:rPr b="1" lang="en-US" sz="1300" u="sng">
                <a:solidFill>
                  <a:schemeClr val="dk1"/>
                </a:solidFill>
                <a:highlight>
                  <a:schemeClr val="lt1"/>
                </a:highlight>
              </a:rPr>
              <a:t>by</a:t>
            </a:r>
            <a:r>
              <a:rPr b="1" i="0" lang="en-US" sz="1300" u="sng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Income Bracket </a:t>
            </a:r>
            <a:endParaRPr b="1" i="0" sz="1300" u="sng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18f8e31fd24_1_9"/>
          <p:cNvSpPr txBox="1"/>
          <p:nvPr>
            <p:ph type="title"/>
          </p:nvPr>
        </p:nvSpPr>
        <p:spPr>
          <a:xfrm>
            <a:off x="613950" y="2085450"/>
            <a:ext cx="5862000" cy="97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0B70"/>
              </a:buClr>
              <a:buSzPts val="2700"/>
              <a:buFont typeface="Arial"/>
              <a:buNone/>
            </a:pPr>
            <a:r>
              <a:rPr lang="en-US"/>
              <a:t>How do these behaviors vary by channel (online vs. offline)?</a:t>
            </a:r>
            <a:endParaRPr/>
          </a:p>
        </p:txBody>
      </p:sp>
      <p:sp>
        <p:nvSpPr>
          <p:cNvPr id="350" name="Google Shape;350;g18f8e31fd24_1_9"/>
          <p:cNvSpPr txBox="1"/>
          <p:nvPr>
            <p:ph idx="12" type="sldNum"/>
          </p:nvPr>
        </p:nvSpPr>
        <p:spPr>
          <a:xfrm>
            <a:off x="8765451" y="4904581"/>
            <a:ext cx="378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1" name="Google Shape;351;g18f8e31fd24_1_9"/>
          <p:cNvSpPr txBox="1"/>
          <p:nvPr>
            <p:ph idx="11" type="ftr"/>
          </p:nvPr>
        </p:nvSpPr>
        <p:spPr>
          <a:xfrm>
            <a:off x="5853367" y="4904581"/>
            <a:ext cx="2895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Copyright or confidentiality statement.</a:t>
            </a:r>
            <a:endParaRPr/>
          </a:p>
        </p:txBody>
      </p:sp>
      <p:sp>
        <p:nvSpPr>
          <p:cNvPr id="352" name="Google Shape;352;g18f8e31fd24_1_9"/>
          <p:cNvSpPr/>
          <p:nvPr/>
        </p:nvSpPr>
        <p:spPr>
          <a:xfrm>
            <a:off x="219875" y="2460750"/>
            <a:ext cx="296100" cy="222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182dc67332f_0_17"/>
          <p:cNvSpPr txBox="1"/>
          <p:nvPr>
            <p:ph type="title"/>
          </p:nvPr>
        </p:nvSpPr>
        <p:spPr>
          <a:xfrm>
            <a:off x="457200" y="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0B70"/>
              </a:buClr>
              <a:buSzPts val="3000"/>
              <a:buFont typeface="Arial"/>
              <a:buNone/>
            </a:pPr>
            <a:r>
              <a:rPr lang="en-US"/>
              <a:t>Channel Trends</a:t>
            </a:r>
            <a:endParaRPr/>
          </a:p>
        </p:txBody>
      </p:sp>
      <p:sp>
        <p:nvSpPr>
          <p:cNvPr id="358" name="Google Shape;358;g182dc67332f_0_17"/>
          <p:cNvSpPr txBox="1"/>
          <p:nvPr>
            <p:ph idx="12" type="sldNum"/>
          </p:nvPr>
        </p:nvSpPr>
        <p:spPr>
          <a:xfrm>
            <a:off x="8765451" y="4904581"/>
            <a:ext cx="378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9" name="Google Shape;359;g182dc67332f_0_17"/>
          <p:cNvSpPr txBox="1"/>
          <p:nvPr>
            <p:ph idx="11" type="ftr"/>
          </p:nvPr>
        </p:nvSpPr>
        <p:spPr>
          <a:xfrm>
            <a:off x="5853367" y="4904581"/>
            <a:ext cx="2895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Copyright or confidentiality statement.</a:t>
            </a:r>
            <a:endParaRPr/>
          </a:p>
        </p:txBody>
      </p:sp>
      <p:sp>
        <p:nvSpPr>
          <p:cNvPr id="360" name="Google Shape;360;g182dc67332f_0_17"/>
          <p:cNvSpPr/>
          <p:nvPr/>
        </p:nvSpPr>
        <p:spPr>
          <a:xfrm>
            <a:off x="161100" y="317700"/>
            <a:ext cx="296100" cy="222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g182dc67332f_0_17"/>
          <p:cNvSpPr txBox="1"/>
          <p:nvPr>
            <p:ph idx="1" type="body"/>
          </p:nvPr>
        </p:nvSpPr>
        <p:spPr>
          <a:xfrm>
            <a:off x="457200" y="1184275"/>
            <a:ext cx="8229600" cy="3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/>
          </a:bodyPr>
          <a:lstStyle/>
          <a:p>
            <a:pPr indent="-34671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US"/>
              <a:t>Offline spend still a significant proportion of total spend - </a:t>
            </a:r>
            <a:r>
              <a:rPr b="1" lang="en-US"/>
              <a:t>~45%</a:t>
            </a:r>
            <a:endParaRPr b="1"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96774"/>
              <a:buNone/>
            </a:pPr>
            <a:r>
              <a:t/>
            </a:r>
            <a:endParaRPr b="1"/>
          </a:p>
          <a:p>
            <a:pPr indent="-34671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n-US"/>
              <a:t>Online spend has been growing faster </a:t>
            </a:r>
            <a:r>
              <a:rPr lang="en-US"/>
              <a:t>- increased from ~50% of total in 2019 to ~55% in 2022; some signs of plateauing as % of total spend </a:t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96774"/>
              <a:buNone/>
            </a:pPr>
            <a:r>
              <a:t/>
            </a:r>
            <a:endParaRPr/>
          </a:p>
          <a:p>
            <a:pPr indent="-34671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US"/>
              <a:t>Online spend shows </a:t>
            </a:r>
            <a:r>
              <a:rPr b="1" lang="en-US"/>
              <a:t>greater seasonality </a:t>
            </a:r>
            <a:r>
              <a:rPr lang="en-US"/>
              <a:t>than offline spend</a:t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96774"/>
              <a:buNone/>
            </a:pPr>
            <a:r>
              <a:t/>
            </a:r>
            <a:endParaRPr/>
          </a:p>
          <a:p>
            <a:pPr indent="-1905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182dc67332f_0_45"/>
          <p:cNvSpPr txBox="1"/>
          <p:nvPr>
            <p:ph type="title"/>
          </p:nvPr>
        </p:nvSpPr>
        <p:spPr>
          <a:xfrm>
            <a:off x="457200" y="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6666"/>
              <a:buNone/>
            </a:pPr>
            <a:r>
              <a:rPr lang="en-US"/>
              <a:t>Total spend has been increasing gently over time with predictable peaks at the end of each year</a:t>
            </a:r>
            <a:endParaRPr/>
          </a:p>
        </p:txBody>
      </p:sp>
      <p:sp>
        <p:nvSpPr>
          <p:cNvPr id="368" name="Google Shape;368;g182dc67332f_0_45"/>
          <p:cNvSpPr txBox="1"/>
          <p:nvPr>
            <p:ph idx="12" type="sldNum"/>
          </p:nvPr>
        </p:nvSpPr>
        <p:spPr>
          <a:xfrm>
            <a:off x="8765451" y="4904581"/>
            <a:ext cx="378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9" name="Google Shape;369;g182dc67332f_0_45"/>
          <p:cNvSpPr/>
          <p:nvPr/>
        </p:nvSpPr>
        <p:spPr>
          <a:xfrm>
            <a:off x="161100" y="317700"/>
            <a:ext cx="296100" cy="222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0" name="Google Shape;370;g182dc67332f_0_45" title="Chart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270652"/>
            <a:ext cx="6392674" cy="3615118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g182dc67332f_0_45"/>
          <p:cNvSpPr/>
          <p:nvPr/>
        </p:nvSpPr>
        <p:spPr>
          <a:xfrm>
            <a:off x="457175" y="982952"/>
            <a:ext cx="6392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Time Series of Total Weekly Spend (2019 - 2022)</a:t>
            </a:r>
            <a:endParaRPr b="1" i="0" sz="14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g182dc67332f_0_45"/>
          <p:cNvSpPr/>
          <p:nvPr/>
        </p:nvSpPr>
        <p:spPr>
          <a:xfrm>
            <a:off x="6849875" y="1270650"/>
            <a:ext cx="1836900" cy="31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-213358" lvl="0" marL="3657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Trendline indicates that total spend has been increasing at a gentle pace over 2019-22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3358" lvl="0" marL="3657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Spending each year predictably peaks near the end of the year - coinciding with Thanksgiving (Black Friday) and Christmas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g182dc67332f_0_45"/>
          <p:cNvSpPr/>
          <p:nvPr/>
        </p:nvSpPr>
        <p:spPr>
          <a:xfrm>
            <a:off x="6850025" y="982950"/>
            <a:ext cx="18369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Takeaways</a:t>
            </a:r>
            <a:endParaRPr b="1" i="0" sz="14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g182dc67332f_0_45"/>
          <p:cNvSpPr/>
          <p:nvPr/>
        </p:nvSpPr>
        <p:spPr>
          <a:xfrm>
            <a:off x="1119025" y="4682575"/>
            <a:ext cx="64443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Note: Inflation not accounted for.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18d15e1ddba_0_22"/>
          <p:cNvSpPr txBox="1"/>
          <p:nvPr>
            <p:ph type="title"/>
          </p:nvPr>
        </p:nvSpPr>
        <p:spPr>
          <a:xfrm>
            <a:off x="457200" y="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6666"/>
              <a:buNone/>
            </a:pPr>
            <a:r>
              <a:rPr lang="en-US"/>
              <a:t>Online spending has represented ~55% of cumulative historical spend</a:t>
            </a:r>
            <a:endParaRPr/>
          </a:p>
        </p:txBody>
      </p:sp>
      <p:sp>
        <p:nvSpPr>
          <p:cNvPr id="381" name="Google Shape;381;g18d15e1ddba_0_22"/>
          <p:cNvSpPr txBox="1"/>
          <p:nvPr>
            <p:ph idx="12" type="sldNum"/>
          </p:nvPr>
        </p:nvSpPr>
        <p:spPr>
          <a:xfrm>
            <a:off x="8765451" y="4904581"/>
            <a:ext cx="378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2" name="Google Shape;382;g18d15e1ddba_0_22"/>
          <p:cNvSpPr/>
          <p:nvPr/>
        </p:nvSpPr>
        <p:spPr>
          <a:xfrm>
            <a:off x="161100" y="317700"/>
            <a:ext cx="296100" cy="222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g18d15e1ddba_0_22"/>
          <p:cNvSpPr/>
          <p:nvPr/>
        </p:nvSpPr>
        <p:spPr>
          <a:xfrm>
            <a:off x="457175" y="982952"/>
            <a:ext cx="6392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 Spend by Channel - Cumulative 2019-22</a:t>
            </a:r>
            <a:endParaRPr b="1" i="0" sz="14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g18d15e1ddba_0_22"/>
          <p:cNvSpPr/>
          <p:nvPr/>
        </p:nvSpPr>
        <p:spPr>
          <a:xfrm>
            <a:off x="5460450" y="982950"/>
            <a:ext cx="18369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Takeaways</a:t>
            </a:r>
            <a:endParaRPr b="1" i="0" sz="14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g18d15e1ddba_0_22"/>
          <p:cNvSpPr/>
          <p:nvPr/>
        </p:nvSpPr>
        <p:spPr>
          <a:xfrm>
            <a:off x="5553625" y="1270650"/>
            <a:ext cx="1836900" cy="24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-213358" lvl="0" marL="3657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 an aggregate level, both channels are significant - representing $3.5B+ spend each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3358" lvl="0" marL="3657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Online spending has accounted for ~55% of total spend over the last few years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6" name="Google Shape;386;g18d15e1ddba_0_22" title="Chart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7350" y="1288625"/>
            <a:ext cx="3665095" cy="2320126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g18d15e1ddba_0_22"/>
          <p:cNvSpPr/>
          <p:nvPr/>
        </p:nvSpPr>
        <p:spPr>
          <a:xfrm>
            <a:off x="4911799" y="1858472"/>
            <a:ext cx="760500" cy="1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100">
                <a:solidFill>
                  <a:srgbClr val="4A86E8"/>
                </a:solidFill>
              </a:rPr>
              <a:t>Online</a:t>
            </a:r>
            <a:endParaRPr b="1" sz="1100">
              <a:solidFill>
                <a:srgbClr val="4A86E8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100" u="none" cap="none" strike="noStrike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$4.6B</a:t>
            </a:r>
            <a:endParaRPr b="1" i="0" sz="1100" u="none" cap="none" strike="noStrike">
              <a:solidFill>
                <a:srgbClr val="4A86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g18d15e1ddba_0_22"/>
          <p:cNvSpPr/>
          <p:nvPr/>
        </p:nvSpPr>
        <p:spPr>
          <a:xfrm>
            <a:off x="4439486" y="2742194"/>
            <a:ext cx="760500" cy="1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100">
                <a:solidFill>
                  <a:srgbClr val="FF9900"/>
                </a:solidFill>
              </a:rPr>
              <a:t>Offline</a:t>
            </a:r>
            <a:endParaRPr b="1" sz="1100">
              <a:solidFill>
                <a:srgbClr val="FF99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1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$3.8B</a:t>
            </a:r>
            <a:endParaRPr b="1" i="0" sz="11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18d15e1ddba_0_39"/>
          <p:cNvSpPr/>
          <p:nvPr/>
        </p:nvSpPr>
        <p:spPr>
          <a:xfrm>
            <a:off x="5350225" y="1270650"/>
            <a:ext cx="1836900" cy="26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-213358" lvl="0" marL="3657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Online spend has increased from ~50% to ~55% of total spend from 2019 to 2022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3358" lvl="0" marL="3657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Growth of online as % of total spend has appeared to flatten since 2020 (the rapid increase likely due to COVID effects)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g18d15e1ddba_0_39"/>
          <p:cNvSpPr txBox="1"/>
          <p:nvPr>
            <p:ph type="title"/>
          </p:nvPr>
        </p:nvSpPr>
        <p:spPr>
          <a:xfrm>
            <a:off x="457200" y="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6666"/>
              <a:buNone/>
            </a:pPr>
            <a:r>
              <a:rPr lang="en-US"/>
              <a:t>Online % of total spend has increased since 2019 but appears to plateauing at ~55%</a:t>
            </a:r>
            <a:endParaRPr/>
          </a:p>
        </p:txBody>
      </p:sp>
      <p:sp>
        <p:nvSpPr>
          <p:cNvPr id="396" name="Google Shape;396;g18d15e1ddba_0_39"/>
          <p:cNvSpPr txBox="1"/>
          <p:nvPr>
            <p:ph idx="12" type="sldNum"/>
          </p:nvPr>
        </p:nvSpPr>
        <p:spPr>
          <a:xfrm>
            <a:off x="8765451" y="4904581"/>
            <a:ext cx="378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7" name="Google Shape;397;g18d15e1ddba_0_39"/>
          <p:cNvSpPr/>
          <p:nvPr/>
        </p:nvSpPr>
        <p:spPr>
          <a:xfrm>
            <a:off x="161100" y="317700"/>
            <a:ext cx="296100" cy="222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g18d15e1ddba_0_39"/>
          <p:cNvSpPr/>
          <p:nvPr/>
        </p:nvSpPr>
        <p:spPr>
          <a:xfrm>
            <a:off x="457175" y="982952"/>
            <a:ext cx="6392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Online vs Offline % of Total Spend by Year</a:t>
            </a:r>
            <a:endParaRPr b="1" i="0" sz="14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g18d15e1ddba_0_39"/>
          <p:cNvSpPr/>
          <p:nvPr/>
        </p:nvSpPr>
        <p:spPr>
          <a:xfrm>
            <a:off x="5245525" y="982950"/>
            <a:ext cx="18369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Takeaways</a:t>
            </a:r>
            <a:endParaRPr b="1" i="0" sz="14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0" name="Google Shape;400;g18d15e1ddba_0_39" title="Chart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1200" y="1298325"/>
            <a:ext cx="3357852" cy="2623525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g18d15e1ddba_0_39"/>
          <p:cNvSpPr/>
          <p:nvPr/>
        </p:nvSpPr>
        <p:spPr>
          <a:xfrm>
            <a:off x="4805592" y="1972042"/>
            <a:ext cx="6576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Online</a:t>
            </a:r>
            <a:endParaRPr b="1" i="0" sz="1000" u="none" cap="none" strike="noStrike">
              <a:solidFill>
                <a:srgbClr val="4A86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g18d15e1ddba_0_39"/>
          <p:cNvSpPr/>
          <p:nvPr/>
        </p:nvSpPr>
        <p:spPr>
          <a:xfrm>
            <a:off x="4805592" y="3019989"/>
            <a:ext cx="6576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Offline</a:t>
            </a:r>
            <a:endParaRPr b="1" i="0" sz="10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18d15e1ddba_0_64"/>
          <p:cNvSpPr txBox="1"/>
          <p:nvPr>
            <p:ph type="title"/>
          </p:nvPr>
        </p:nvSpPr>
        <p:spPr>
          <a:xfrm>
            <a:off x="457200" y="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6666"/>
              <a:buNone/>
            </a:pPr>
            <a:r>
              <a:rPr lang="en-US"/>
              <a:t>Online spend, which appears to show greater seasonality, has been growing faster than offline </a:t>
            </a:r>
            <a:endParaRPr/>
          </a:p>
        </p:txBody>
      </p:sp>
      <p:sp>
        <p:nvSpPr>
          <p:cNvPr id="409" name="Google Shape;409;g18d15e1ddba_0_64"/>
          <p:cNvSpPr/>
          <p:nvPr/>
        </p:nvSpPr>
        <p:spPr>
          <a:xfrm>
            <a:off x="6082825" y="1270650"/>
            <a:ext cx="1836900" cy="31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-213358" lvl="0" marL="3657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Online spend has been growing faster than offline spend - represented by the steeper trendline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3358" lvl="0" marL="3657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Online spend appears to be more seasonal - with greater spikes in spending at the end of each year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g18d15e1ddba_0_64"/>
          <p:cNvSpPr txBox="1"/>
          <p:nvPr>
            <p:ph idx="12" type="sldNum"/>
          </p:nvPr>
        </p:nvSpPr>
        <p:spPr>
          <a:xfrm>
            <a:off x="8765451" y="4904581"/>
            <a:ext cx="378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1" name="Google Shape;411;g18d15e1ddba_0_64"/>
          <p:cNvSpPr/>
          <p:nvPr/>
        </p:nvSpPr>
        <p:spPr>
          <a:xfrm>
            <a:off x="161100" y="317700"/>
            <a:ext cx="296100" cy="222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g18d15e1ddba_0_64"/>
          <p:cNvSpPr/>
          <p:nvPr/>
        </p:nvSpPr>
        <p:spPr>
          <a:xfrm>
            <a:off x="457175" y="982952"/>
            <a:ext cx="6392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 Series of Total Weekly Spend by Channel (2019 - 2022)</a:t>
            </a:r>
            <a:endParaRPr b="1" i="0" sz="14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g18d15e1ddba_0_64"/>
          <p:cNvSpPr/>
          <p:nvPr/>
        </p:nvSpPr>
        <p:spPr>
          <a:xfrm>
            <a:off x="6010375" y="982950"/>
            <a:ext cx="18369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Takeaways</a:t>
            </a:r>
            <a:endParaRPr b="1" i="0" sz="14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4" name="Google Shape;414;g18d15e1ddba_0_64" title="Chart"/>
          <p:cNvPicPr preferRelativeResize="0"/>
          <p:nvPr/>
        </p:nvPicPr>
        <p:blipFill rotWithShape="1">
          <a:blip r:embed="rId3">
            <a:alphaModFix/>
          </a:blip>
          <a:srcRect b="0" l="0" r="10144" t="0"/>
          <a:stretch/>
        </p:blipFill>
        <p:spPr>
          <a:xfrm>
            <a:off x="1119950" y="1396200"/>
            <a:ext cx="4962876" cy="2689575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g18d15e1ddba_0_64"/>
          <p:cNvSpPr/>
          <p:nvPr/>
        </p:nvSpPr>
        <p:spPr>
          <a:xfrm>
            <a:off x="5156876" y="2098250"/>
            <a:ext cx="10131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Online</a:t>
            </a:r>
            <a:endParaRPr b="1" i="0" sz="1000" u="none" cap="none" strike="noStrike">
              <a:solidFill>
                <a:srgbClr val="4A86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g18d15e1ddba_0_64"/>
          <p:cNvSpPr/>
          <p:nvPr/>
        </p:nvSpPr>
        <p:spPr>
          <a:xfrm>
            <a:off x="5156876" y="2950125"/>
            <a:ext cx="10131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Offline</a:t>
            </a:r>
            <a:endParaRPr b="1" i="0" sz="10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18f8e31fd24_1_16"/>
          <p:cNvSpPr txBox="1"/>
          <p:nvPr>
            <p:ph type="title"/>
          </p:nvPr>
        </p:nvSpPr>
        <p:spPr>
          <a:xfrm>
            <a:off x="613950" y="2085450"/>
            <a:ext cx="5862000" cy="97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0B70"/>
              </a:buClr>
              <a:buSzPts val="2700"/>
              <a:buFont typeface="Arial"/>
              <a:buNone/>
            </a:pPr>
            <a:r>
              <a:rPr lang="en-US"/>
              <a:t>What sectors is customer spend shifting to?</a:t>
            </a:r>
            <a:endParaRPr/>
          </a:p>
        </p:txBody>
      </p:sp>
      <p:sp>
        <p:nvSpPr>
          <p:cNvPr id="422" name="Google Shape;422;g18f8e31fd24_1_16"/>
          <p:cNvSpPr txBox="1"/>
          <p:nvPr>
            <p:ph idx="12" type="sldNum"/>
          </p:nvPr>
        </p:nvSpPr>
        <p:spPr>
          <a:xfrm>
            <a:off x="8765451" y="4904581"/>
            <a:ext cx="378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3" name="Google Shape;423;g18f8e31fd24_1_16"/>
          <p:cNvSpPr txBox="1"/>
          <p:nvPr>
            <p:ph idx="11" type="ftr"/>
          </p:nvPr>
        </p:nvSpPr>
        <p:spPr>
          <a:xfrm>
            <a:off x="5853367" y="4904581"/>
            <a:ext cx="2895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Copyright or confidentiality statement.</a:t>
            </a:r>
            <a:endParaRPr/>
          </a:p>
        </p:txBody>
      </p:sp>
      <p:sp>
        <p:nvSpPr>
          <p:cNvPr id="424" name="Google Shape;424;g18f8e31fd24_1_16"/>
          <p:cNvSpPr/>
          <p:nvPr/>
        </p:nvSpPr>
        <p:spPr>
          <a:xfrm>
            <a:off x="219875" y="2460750"/>
            <a:ext cx="296100" cy="222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182dc67332f_0_24"/>
          <p:cNvSpPr txBox="1"/>
          <p:nvPr>
            <p:ph type="title"/>
          </p:nvPr>
        </p:nvSpPr>
        <p:spPr>
          <a:xfrm>
            <a:off x="457200" y="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0B70"/>
              </a:buClr>
              <a:buSzPts val="3000"/>
              <a:buFont typeface="Arial"/>
              <a:buNone/>
            </a:pPr>
            <a:r>
              <a:rPr lang="en-US"/>
              <a:t>Sector Shift Analysis</a:t>
            </a:r>
            <a:endParaRPr/>
          </a:p>
        </p:txBody>
      </p:sp>
      <p:sp>
        <p:nvSpPr>
          <p:cNvPr id="430" name="Google Shape;430;g182dc67332f_0_24"/>
          <p:cNvSpPr txBox="1"/>
          <p:nvPr>
            <p:ph idx="12" type="sldNum"/>
          </p:nvPr>
        </p:nvSpPr>
        <p:spPr>
          <a:xfrm>
            <a:off x="8765451" y="4904581"/>
            <a:ext cx="378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1" name="Google Shape;431;g182dc67332f_0_24"/>
          <p:cNvSpPr txBox="1"/>
          <p:nvPr>
            <p:ph idx="11" type="ftr"/>
          </p:nvPr>
        </p:nvSpPr>
        <p:spPr>
          <a:xfrm>
            <a:off x="5853367" y="4904581"/>
            <a:ext cx="2895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Copyright or confidentiality statement.</a:t>
            </a:r>
            <a:endParaRPr/>
          </a:p>
        </p:txBody>
      </p:sp>
      <p:sp>
        <p:nvSpPr>
          <p:cNvPr id="432" name="Google Shape;432;g182dc67332f_0_24"/>
          <p:cNvSpPr txBox="1"/>
          <p:nvPr>
            <p:ph idx="1" type="body"/>
          </p:nvPr>
        </p:nvSpPr>
        <p:spPr>
          <a:xfrm>
            <a:off x="457200" y="1184275"/>
            <a:ext cx="8229600" cy="3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/>
              <a:t>Mass and grocery sectors collectively represent </a:t>
            </a:r>
            <a:r>
              <a:rPr b="1" lang="en-US"/>
              <a:t>over 50% of total spend </a:t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/>
              <a:t>Based on predictive modeling, the </a:t>
            </a:r>
            <a:r>
              <a:rPr b="1" lang="en-US"/>
              <a:t>hotel and airline sectors</a:t>
            </a:r>
            <a:r>
              <a:rPr lang="en-US"/>
              <a:t> are forecast to grow the fastest</a:t>
            </a:r>
            <a:endParaRPr b="1"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1905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18d15e1ddba_0_95"/>
          <p:cNvSpPr txBox="1"/>
          <p:nvPr>
            <p:ph type="title"/>
          </p:nvPr>
        </p:nvSpPr>
        <p:spPr>
          <a:xfrm>
            <a:off x="457200" y="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6666"/>
              <a:buNone/>
            </a:pPr>
            <a:r>
              <a:rPr lang="en-US"/>
              <a:t>Mass and grocery represent greater than 50% of total spend, with a long tail of sectors</a:t>
            </a:r>
            <a:endParaRPr/>
          </a:p>
        </p:txBody>
      </p:sp>
      <p:sp>
        <p:nvSpPr>
          <p:cNvPr id="439" name="Google Shape;439;g18d15e1ddba_0_95"/>
          <p:cNvSpPr txBox="1"/>
          <p:nvPr>
            <p:ph idx="12" type="sldNum"/>
          </p:nvPr>
        </p:nvSpPr>
        <p:spPr>
          <a:xfrm>
            <a:off x="8765451" y="4904581"/>
            <a:ext cx="378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0" name="Google Shape;440;g18d15e1ddba_0_95"/>
          <p:cNvSpPr/>
          <p:nvPr/>
        </p:nvSpPr>
        <p:spPr>
          <a:xfrm>
            <a:off x="161100" y="317700"/>
            <a:ext cx="296100" cy="222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g18d15e1ddba_0_95"/>
          <p:cNvSpPr/>
          <p:nvPr/>
        </p:nvSpPr>
        <p:spPr>
          <a:xfrm>
            <a:off x="457175" y="982952"/>
            <a:ext cx="6392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 Spend by Sector (%) from 2019-21</a:t>
            </a:r>
            <a:endParaRPr b="1" i="0" sz="14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2" name="Google Shape;442;g18d15e1ddba_0_95" title="Chart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270650"/>
            <a:ext cx="6067299" cy="356805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g18d15e1ddba_0_95"/>
          <p:cNvSpPr/>
          <p:nvPr/>
        </p:nvSpPr>
        <p:spPr>
          <a:xfrm>
            <a:off x="5559300" y="1583825"/>
            <a:ext cx="178500" cy="6309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3E0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4" name="Google Shape;444;g18d15e1ddba_0_95"/>
          <p:cNvCxnSpPr/>
          <p:nvPr/>
        </p:nvCxnSpPr>
        <p:spPr>
          <a:xfrm flipH="1">
            <a:off x="3491725" y="3533850"/>
            <a:ext cx="2212800" cy="689700"/>
          </a:xfrm>
          <a:prstGeom prst="straightConnector1">
            <a:avLst/>
          </a:prstGeom>
          <a:noFill/>
          <a:ln cap="flat" cmpd="sng" w="19050">
            <a:solidFill>
              <a:srgbClr val="3E0B7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45" name="Google Shape;445;g18d15e1ddba_0_95"/>
          <p:cNvSpPr/>
          <p:nvPr/>
        </p:nvSpPr>
        <p:spPr>
          <a:xfrm>
            <a:off x="740664" y="4112250"/>
            <a:ext cx="970200" cy="28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Specialty Stores (Other)</a:t>
            </a:r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6" name="Google Shape;446;g18d15e1ddba_0_95"/>
          <p:cNvSpPr/>
          <p:nvPr/>
        </p:nvSpPr>
        <p:spPr>
          <a:xfrm>
            <a:off x="5737800" y="982950"/>
            <a:ext cx="18369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Takeaways</a:t>
            </a:r>
            <a:endParaRPr b="1" i="0" sz="14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g18d15e1ddba_0_95"/>
          <p:cNvSpPr/>
          <p:nvPr/>
        </p:nvSpPr>
        <p:spPr>
          <a:xfrm>
            <a:off x="5737800" y="1396200"/>
            <a:ext cx="1836900" cy="282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-213358" lvl="0" marL="3657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Mass and Grocery segments collectively account for 58% of total spend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3358" lvl="0" marL="3657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long tail of 12 sectors represent the “Other” category including footwear, car rentals, sporting goods, etc.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g19159c35986_0_0" title="Chart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3850" y="1270650"/>
            <a:ext cx="4435674" cy="312930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g19159c35986_0_0"/>
          <p:cNvSpPr txBox="1"/>
          <p:nvPr>
            <p:ph type="title"/>
          </p:nvPr>
        </p:nvSpPr>
        <p:spPr>
          <a:xfrm>
            <a:off x="457200" y="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6666"/>
              <a:buNone/>
            </a:pPr>
            <a:r>
              <a:rPr lang="en-US"/>
              <a:t>Based on predictive modeling, the hotel and airline sectors are forecast to grow the fastest</a:t>
            </a:r>
            <a:endParaRPr/>
          </a:p>
        </p:txBody>
      </p:sp>
      <p:sp>
        <p:nvSpPr>
          <p:cNvPr id="455" name="Google Shape;455;g19159c35986_0_0"/>
          <p:cNvSpPr txBox="1"/>
          <p:nvPr>
            <p:ph idx="12" type="sldNum"/>
          </p:nvPr>
        </p:nvSpPr>
        <p:spPr>
          <a:xfrm>
            <a:off x="8765451" y="4904581"/>
            <a:ext cx="378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6" name="Google Shape;456;g19159c35986_0_0"/>
          <p:cNvSpPr/>
          <p:nvPr/>
        </p:nvSpPr>
        <p:spPr>
          <a:xfrm>
            <a:off x="161100" y="317700"/>
            <a:ext cx="296100" cy="222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g19159c35986_0_0"/>
          <p:cNvSpPr/>
          <p:nvPr/>
        </p:nvSpPr>
        <p:spPr>
          <a:xfrm>
            <a:off x="2432925" y="962088"/>
            <a:ext cx="40266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Predicted Regression Slope by Sector </a:t>
            </a:r>
            <a:endParaRPr b="1" i="0" sz="14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(Indicator of Future Growth)</a:t>
            </a:r>
            <a:endParaRPr b="1" i="0" sz="14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g19159c35986_0_0"/>
          <p:cNvSpPr/>
          <p:nvPr/>
        </p:nvSpPr>
        <p:spPr>
          <a:xfrm>
            <a:off x="6019075" y="857400"/>
            <a:ext cx="1836900" cy="5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Takeaways</a:t>
            </a:r>
            <a:endParaRPr b="1" i="0" sz="14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u="sng"/>
          </a:p>
        </p:txBody>
      </p:sp>
      <p:sp>
        <p:nvSpPr>
          <p:cNvPr id="459" name="Google Shape;459;g19159c35986_0_0"/>
          <p:cNvSpPr/>
          <p:nvPr/>
        </p:nvSpPr>
        <p:spPr>
          <a:xfrm>
            <a:off x="6174550" y="1270650"/>
            <a:ext cx="1836900" cy="29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-213358" lvl="0" marL="3657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Based on the predictive regression model, hotels and airlines are likely to grow the fastest over the next few years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3358" lvl="0" marL="3657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Results of the regression should be updated and monitored in post-COVID world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g19159c35986_0_0"/>
          <p:cNvSpPr/>
          <p:nvPr/>
        </p:nvSpPr>
        <p:spPr>
          <a:xfrm>
            <a:off x="6019075" y="1479000"/>
            <a:ext cx="148800" cy="287700"/>
          </a:xfrm>
          <a:prstGeom prst="rightBrace">
            <a:avLst>
              <a:gd fmla="val 50000" name="adj1"/>
              <a:gd fmla="val 54527" name="adj2"/>
            </a:avLst>
          </a:prstGeom>
          <a:noFill/>
          <a:ln cap="flat" cmpd="sng" w="19050">
            <a:solidFill>
              <a:srgbClr val="3E0B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19159c35986_0_16"/>
          <p:cNvSpPr txBox="1"/>
          <p:nvPr>
            <p:ph type="title"/>
          </p:nvPr>
        </p:nvSpPr>
        <p:spPr>
          <a:xfrm>
            <a:off x="457200" y="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0B70"/>
              </a:buClr>
              <a:buSzPts val="3000"/>
              <a:buFont typeface="Arial"/>
              <a:buNone/>
            </a:pPr>
            <a:r>
              <a:rPr lang="en-US"/>
              <a:t>Next Steps</a:t>
            </a:r>
            <a:endParaRPr/>
          </a:p>
        </p:txBody>
      </p:sp>
      <p:sp>
        <p:nvSpPr>
          <p:cNvPr id="466" name="Google Shape;466;g19159c35986_0_16"/>
          <p:cNvSpPr txBox="1"/>
          <p:nvPr>
            <p:ph idx="1" type="body"/>
          </p:nvPr>
        </p:nvSpPr>
        <p:spPr>
          <a:xfrm>
            <a:off x="457200" y="1184275"/>
            <a:ext cx="8229600" cy="3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257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5000"/>
              <a:buAutoNum type="arabicPeriod"/>
            </a:pPr>
            <a:r>
              <a:rPr lang="en-US"/>
              <a:t>Technical presentation in final week - detailed walkthrough of analysis and modeling</a:t>
            </a:r>
            <a:endParaRPr/>
          </a:p>
          <a:p>
            <a:pPr indent="-3257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5000"/>
              <a:buAutoNum type="arabicPeriod"/>
            </a:pPr>
            <a:r>
              <a:rPr lang="en-US"/>
              <a:t>Additional analysis as a supplement - visitor count + mobile data, interactive map and dashboard, financial health analysis</a:t>
            </a:r>
            <a:endParaRPr/>
          </a:p>
          <a:p>
            <a:pPr indent="-3257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75000"/>
              <a:buAutoNum type="arabicPeriod"/>
            </a:pPr>
            <a:r>
              <a:rPr lang="en-US"/>
              <a:t>Transfer of code + analysis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8235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8235"/>
              <a:buNone/>
            </a:pPr>
            <a:r>
              <a:t/>
            </a:r>
            <a:endParaRPr/>
          </a:p>
          <a:p>
            <a:pPr indent="-1905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467" name="Google Shape;467;g19159c35986_0_16"/>
          <p:cNvSpPr txBox="1"/>
          <p:nvPr>
            <p:ph idx="12" type="sldNum"/>
          </p:nvPr>
        </p:nvSpPr>
        <p:spPr>
          <a:xfrm>
            <a:off x="8765451" y="4904581"/>
            <a:ext cx="378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8" name="Google Shape;468;g19159c35986_0_16"/>
          <p:cNvSpPr txBox="1"/>
          <p:nvPr>
            <p:ph idx="11" type="ftr"/>
          </p:nvPr>
        </p:nvSpPr>
        <p:spPr>
          <a:xfrm>
            <a:off x="5853367" y="4904581"/>
            <a:ext cx="2895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Copyright or confidentiality statement.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15f0f305651_0_21"/>
          <p:cNvSpPr txBox="1"/>
          <p:nvPr>
            <p:ph type="title"/>
          </p:nvPr>
        </p:nvSpPr>
        <p:spPr>
          <a:xfrm>
            <a:off x="457200" y="1646350"/>
            <a:ext cx="8229600" cy="163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lang="en-US" sz="4000"/>
              <a:t>Thank you! </a:t>
            </a:r>
            <a:endParaRPr sz="4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lang="en-US" sz="4000"/>
              <a:t>Questions?</a:t>
            </a:r>
            <a:endParaRPr sz="4000"/>
          </a:p>
        </p:txBody>
      </p:sp>
      <p:sp>
        <p:nvSpPr>
          <p:cNvPr id="474" name="Google Shape;474;g15f0f305651_0_21"/>
          <p:cNvSpPr txBox="1"/>
          <p:nvPr>
            <p:ph idx="12" type="sldNum"/>
          </p:nvPr>
        </p:nvSpPr>
        <p:spPr>
          <a:xfrm>
            <a:off x="8765451" y="4904581"/>
            <a:ext cx="378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5" name="Google Shape;475;g15f0f305651_0_21"/>
          <p:cNvSpPr txBox="1"/>
          <p:nvPr>
            <p:ph idx="11" type="ftr"/>
          </p:nvPr>
        </p:nvSpPr>
        <p:spPr>
          <a:xfrm>
            <a:off x="5853367" y="4904581"/>
            <a:ext cx="2895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Copyright or confidentiality statement.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2_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2010-04-12T23:12:02Z</dcterms:created>
  <dc:creator>Diana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0x0101000DE64AEEDD9B7A4D93545ACBE97D4615</vt:lpwstr>
  </property>
</Properties>
</file>